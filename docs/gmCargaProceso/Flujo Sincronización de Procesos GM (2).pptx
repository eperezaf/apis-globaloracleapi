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5" r:id="rId9"/>
    <p:sldId id="266" r:id="rId10"/>
    <p:sldId id="267" r:id="rId11"/>
    <p:sldId id="270" r:id="rId12"/>
    <p:sldId id="264" r:id="rId13"/>
    <p:sldId id="263" r:id="rId14"/>
    <p:sldId id="269" r:id="rId1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30" d="100"/>
          <a:sy n="130" d="100"/>
        </p:scale>
        <p:origin x="73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917ADE-5CAC-31AF-C7BB-51A926B488AE}"/>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71036A9-68B2-10DD-12B2-1FD64E78F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CF6CA22E-6939-AF0D-E3A0-FC12206B0F13}"/>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AEF5B981-A37F-1E38-CB4A-BF00F8DF9A3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6517412-951E-2B21-A093-63DE7E1E2E2A}"/>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267114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1E628-8690-7CDF-D608-08B2F99A400F}"/>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BF28FF0B-DA6B-A0A1-DB6B-548E61B026A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F7EDF56-9ABA-CA0E-987D-B2099C5179B9}"/>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C9699BBE-0454-6DB8-C082-488DD1A85E8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AD8499C-449F-6904-113A-DE43A53A8240}"/>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1338653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A09DE2-880A-EAD0-74F3-D33DBEC5046A}"/>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BF9F24D7-384C-ED52-9712-AC1ECAEC75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0750D920-F8BA-B817-8C16-C568820507B1}"/>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C1022755-39D9-3895-8D92-C50A2E7E180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DA5F9A8-734F-3D05-3516-3877A050116E}"/>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3780409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3A0347-55C2-B445-C1CE-91332C449CA9}"/>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556A6C85-F4F4-1B4E-2D3D-6C8B8394306A}"/>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11A2D27C-5F21-782A-937B-B5886DF6926B}"/>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65852DEF-2A7D-42B3-6F00-328FD29CB07C}"/>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6" name="Marcador de pie de página 5">
            <a:extLst>
              <a:ext uri="{FF2B5EF4-FFF2-40B4-BE49-F238E27FC236}">
                <a16:creationId xmlns:a16="http://schemas.microsoft.com/office/drawing/2014/main" id="{D06A19E1-52E7-8FFE-BFEF-087BBC58043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D892522-CDC5-DE33-0F21-1DC940855CA1}"/>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108652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D88E22-DD68-3EEA-7108-DE4CAB008687}"/>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C89C971B-D098-3FC7-9BC9-D0DAFBFB71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8C485E6-7285-33F4-7E71-28EB95A430EE}"/>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E3E90773-A498-AF5C-62F0-5042E330BC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75E99328-8B4F-A6CE-C402-84C797BF34F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A2170AD9-6C4D-FDD5-5EFD-95242FB20771}"/>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8" name="Marcador de pie de página 7">
            <a:extLst>
              <a:ext uri="{FF2B5EF4-FFF2-40B4-BE49-F238E27FC236}">
                <a16:creationId xmlns:a16="http://schemas.microsoft.com/office/drawing/2014/main" id="{055B615A-B7D5-E5ED-0367-E116E6A42DC1}"/>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D7D71B21-DDC0-2277-5B46-EA55764B6443}"/>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2464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85AF4E-C7C6-D223-4C4D-79C6E17D5943}"/>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FDB6D109-5A63-7FF3-B46E-1C6BDFF03328}"/>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4" name="Marcador de pie de página 3">
            <a:extLst>
              <a:ext uri="{FF2B5EF4-FFF2-40B4-BE49-F238E27FC236}">
                <a16:creationId xmlns:a16="http://schemas.microsoft.com/office/drawing/2014/main" id="{EDFEBFD8-1C03-A069-D939-6979E762468C}"/>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09B94DF-5E44-1C84-382F-198FF25D5224}"/>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180590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EE51D86-C85B-71ED-4E7C-3635027A14DC}"/>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3" name="Marcador de pie de página 2">
            <a:extLst>
              <a:ext uri="{FF2B5EF4-FFF2-40B4-BE49-F238E27FC236}">
                <a16:creationId xmlns:a16="http://schemas.microsoft.com/office/drawing/2014/main" id="{55358FF8-F1B0-8CFB-FD93-D465FAEFA27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FF4806B-5639-3EB9-BCFB-2212697F503A}"/>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624731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ECE62-C133-9E45-2EC2-4253CD51AD3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6B76A2E-BD22-BC20-94CE-116418DBBE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E60F0B98-358D-F85F-C079-42A31D27A2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890828C-3157-846C-20BD-1C0E382580A3}"/>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6" name="Marcador de pie de página 5">
            <a:extLst>
              <a:ext uri="{FF2B5EF4-FFF2-40B4-BE49-F238E27FC236}">
                <a16:creationId xmlns:a16="http://schemas.microsoft.com/office/drawing/2014/main" id="{5B2925C1-01F5-85E4-8C66-934084B68F3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19805B-FE6B-0111-B386-C4DDAE1240A3}"/>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604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2B9F9A-EFE9-3FF1-4911-05A2A4B1979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9BD1262C-820C-6258-B145-10D04C0AB5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0C15CC2-10F2-7FBF-1180-D9253CBFA0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4E20844-C590-5079-CD9C-E14155F2AEAD}"/>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6" name="Marcador de pie de página 5">
            <a:extLst>
              <a:ext uri="{FF2B5EF4-FFF2-40B4-BE49-F238E27FC236}">
                <a16:creationId xmlns:a16="http://schemas.microsoft.com/office/drawing/2014/main" id="{49F5828F-FC8D-F6F2-41D5-5578EF54BE7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4B4240F-BF44-1C2B-D21B-9F18E9174B1F}"/>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2463087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01018D-229F-5D5D-2DAD-C0CD07382E79}"/>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C2911798-35FB-B751-56B2-504995EE797F}"/>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D3DBDAB-6125-BC88-6D21-105F00608680}"/>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B8A2EAB7-CC3B-8314-F057-FAE81F65DE5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65842A0-177A-21ED-3855-6722BC99F26B}"/>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876930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D6B317E-8075-865D-6F48-9CDCA04C1BCC}"/>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7A281ED8-7F15-1714-8DFF-FF02650E65DC}"/>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DC6169F-4B61-9C1C-61B3-61EB4594D050}"/>
              </a:ext>
            </a:extLst>
          </p:cNvPr>
          <p:cNvSpPr>
            <a:spLocks noGrp="1"/>
          </p:cNvSpPr>
          <p:nvPr>
            <p:ph type="dt" sz="half" idx="10"/>
          </p:nvPr>
        </p:nvSpPr>
        <p:spPr/>
        <p:txBody>
          <a:body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1BBA9364-B523-6695-D38C-B374927F82B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55215A-874F-DF98-17FF-36A268D1BF7D}"/>
              </a:ext>
            </a:extLst>
          </p:cNvPr>
          <p:cNvSpPr>
            <a:spLocks noGrp="1"/>
          </p:cNvSpPr>
          <p:nvPr>
            <p:ph type="sldNum" sz="quarter" idx="12"/>
          </p:nvPr>
        </p:nvSpPr>
        <p:spPr/>
        <p:txBody>
          <a:bodyPr/>
          <a:lstStyle/>
          <a:p>
            <a:fld id="{76CED215-68C5-4E6D-BA17-FD72EC5E2B55}" type="slidenum">
              <a:rPr lang="es-MX" smtClean="0"/>
              <a:t>‹Nº›</a:t>
            </a:fld>
            <a:endParaRPr lang="es-MX"/>
          </a:p>
        </p:txBody>
      </p:sp>
    </p:spTree>
    <p:extLst>
      <p:ext uri="{BB962C8B-B14F-4D97-AF65-F5344CB8AC3E}">
        <p14:creationId xmlns:p14="http://schemas.microsoft.com/office/powerpoint/2010/main" val="330696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3B5EEB9-7170-DFA1-D969-80FBD85132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17C5D2BA-DACB-CE69-E359-6049442834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11D1CC93-EFFB-47D0-8854-A867618586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B260BC-BFD1-47EB-A797-11413090328E}" type="datetimeFigureOut">
              <a:rPr lang="es-MX" smtClean="0"/>
              <a:t>29/12/2025</a:t>
            </a:fld>
            <a:endParaRPr lang="es-MX"/>
          </a:p>
        </p:txBody>
      </p:sp>
      <p:sp>
        <p:nvSpPr>
          <p:cNvPr id="5" name="Marcador de pie de página 4">
            <a:extLst>
              <a:ext uri="{FF2B5EF4-FFF2-40B4-BE49-F238E27FC236}">
                <a16:creationId xmlns:a16="http://schemas.microsoft.com/office/drawing/2014/main" id="{6C0E5D73-C29E-D03F-F74C-94B248A940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AFD27D5-60CA-BC18-4BB3-A15F62DAF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CED215-68C5-4E6D-BA17-FD72EC5E2B55}" type="slidenum">
              <a:rPr lang="es-MX" smtClean="0"/>
              <a:t>‹Nº›</a:t>
            </a:fld>
            <a:endParaRPr lang="es-MX"/>
          </a:p>
        </p:txBody>
      </p:sp>
    </p:spTree>
    <p:extLst>
      <p:ext uri="{BB962C8B-B14F-4D97-AF65-F5344CB8AC3E}">
        <p14:creationId xmlns:p14="http://schemas.microsoft.com/office/powerpoint/2010/main" val="3752721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F6580-EAEC-3D61-3BDA-C70226C78984}"/>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9F52A6D-2035-6FDF-A03E-D21F13FFC3F8}"/>
              </a:ext>
            </a:extLst>
          </p:cNvPr>
          <p:cNvSpPr/>
          <p:nvPr/>
        </p:nvSpPr>
        <p:spPr>
          <a:xfrm>
            <a:off x="1066162" y="1065251"/>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Archivo correcto: </a:t>
            </a:r>
          </a:p>
        </p:txBody>
      </p:sp>
      <p:sp>
        <p:nvSpPr>
          <p:cNvPr id="5" name="Rectángulo 4">
            <a:extLst>
              <a:ext uri="{FF2B5EF4-FFF2-40B4-BE49-F238E27FC236}">
                <a16:creationId xmlns:a16="http://schemas.microsoft.com/office/drawing/2014/main" id="{7ACE8944-C829-A3B4-2003-47312114F1AC}"/>
              </a:ext>
            </a:extLst>
          </p:cNvPr>
          <p:cNvSpPr/>
          <p:nvPr/>
        </p:nvSpPr>
        <p:spPr>
          <a:xfrm>
            <a:off x="1066162" y="255413"/>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Se sube archivo .xlsx y se valida en </a:t>
            </a:r>
            <a:r>
              <a:rPr lang="es-MX" sz="1400" dirty="0" err="1"/>
              <a:t>front-end</a:t>
            </a:r>
            <a:endParaRPr lang="es-MX" sz="1400" dirty="0"/>
          </a:p>
        </p:txBody>
      </p:sp>
      <p:sp>
        <p:nvSpPr>
          <p:cNvPr id="2" name="Rectángulo 1">
            <a:extLst>
              <a:ext uri="{FF2B5EF4-FFF2-40B4-BE49-F238E27FC236}">
                <a16:creationId xmlns:a16="http://schemas.microsoft.com/office/drawing/2014/main" id="{3E440A5A-E11D-93CC-C83B-1C3FBEE1E92F}"/>
              </a:ext>
            </a:extLst>
          </p:cNvPr>
          <p:cNvSpPr/>
          <p:nvPr/>
        </p:nvSpPr>
        <p:spPr>
          <a:xfrm>
            <a:off x="3955756" y="1773883"/>
            <a:ext cx="4839338"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Estrategia Limpieza: Api de “</a:t>
            </a:r>
            <a:r>
              <a:rPr lang="es-MX" sz="1400" dirty="0" err="1"/>
              <a:t>delete-productsList</a:t>
            </a:r>
            <a:r>
              <a:rPr lang="es-MX" sz="1400" dirty="0"/>
              <a:t>” que elimina los registros </a:t>
            </a:r>
            <a:r>
              <a:rPr lang="es-MX" sz="1400" dirty="0" err="1"/>
              <a:t>pre-existentes</a:t>
            </a:r>
            <a:endParaRPr lang="es-MX" sz="1400" dirty="0"/>
          </a:p>
        </p:txBody>
      </p:sp>
      <p:sp>
        <p:nvSpPr>
          <p:cNvPr id="3" name="Rectángulo 2">
            <a:extLst>
              <a:ext uri="{FF2B5EF4-FFF2-40B4-BE49-F238E27FC236}">
                <a16:creationId xmlns:a16="http://schemas.microsoft.com/office/drawing/2014/main" id="{9B44028B-A0E0-ADD7-DF2E-64B6C1BD1EF6}"/>
              </a:ext>
            </a:extLst>
          </p:cNvPr>
          <p:cNvSpPr/>
          <p:nvPr/>
        </p:nvSpPr>
        <p:spPr>
          <a:xfrm>
            <a:off x="3955756" y="2535568"/>
            <a:ext cx="4839338"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Inserta </a:t>
            </a:r>
            <a:r>
              <a:rPr lang="es-MX" sz="1400" dirty="0" err="1"/>
              <a:t>Json</a:t>
            </a:r>
            <a:r>
              <a:rPr lang="es-MX" sz="1400" dirty="0"/>
              <a:t> completo: API POST: </a:t>
            </a:r>
            <a:r>
              <a:rPr lang="es-MX" sz="1400" dirty="0" err="1"/>
              <a:t>ProductsListBatchInsert</a:t>
            </a:r>
            <a:endParaRPr lang="es-MX" sz="1400" dirty="0"/>
          </a:p>
        </p:txBody>
      </p:sp>
      <p:sp>
        <p:nvSpPr>
          <p:cNvPr id="12" name="Rectángulo 11">
            <a:extLst>
              <a:ext uri="{FF2B5EF4-FFF2-40B4-BE49-F238E27FC236}">
                <a16:creationId xmlns:a16="http://schemas.microsoft.com/office/drawing/2014/main" id="{1E04BF90-00B9-5C2D-2363-8B85EB5D3E51}"/>
              </a:ext>
            </a:extLst>
          </p:cNvPr>
          <p:cNvSpPr/>
          <p:nvPr/>
        </p:nvSpPr>
        <p:spPr>
          <a:xfrm>
            <a:off x="3955756" y="3273096"/>
            <a:ext cx="5792639"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Guarda “Cabecera de Fotografía de proceso” con API:  POST    -</a:t>
            </a:r>
            <a:r>
              <a:rPr lang="es-MX" sz="1400" dirty="0" err="1">
                <a:solidFill>
                  <a:schemeClr val="accent6">
                    <a:lumMod val="75000"/>
                  </a:schemeClr>
                </a:solidFill>
              </a:rPr>
              <a:t>EventoCargaProceso</a:t>
            </a:r>
            <a:r>
              <a:rPr lang="es-MX" sz="1400" dirty="0"/>
              <a:t> - </a:t>
            </a:r>
            <a:r>
              <a:rPr lang="es-MX" sz="1400" dirty="0" err="1">
                <a:solidFill>
                  <a:schemeClr val="accent2">
                    <a:lumMod val="75000"/>
                  </a:schemeClr>
                </a:solidFill>
              </a:rPr>
              <a:t>CargaArchivoSinc</a:t>
            </a:r>
            <a:r>
              <a:rPr lang="es-MX" sz="1400" dirty="0"/>
              <a:t> -&gt; Genera </a:t>
            </a:r>
            <a:r>
              <a:rPr lang="es-MX" sz="1400" dirty="0" err="1"/>
              <a:t>cargaArchivoSincId</a:t>
            </a:r>
            <a:endParaRPr lang="es-MX" sz="1400" dirty="0"/>
          </a:p>
        </p:txBody>
      </p:sp>
      <p:sp>
        <p:nvSpPr>
          <p:cNvPr id="13" name="Rectángulo 12">
            <a:extLst>
              <a:ext uri="{FF2B5EF4-FFF2-40B4-BE49-F238E27FC236}">
                <a16:creationId xmlns:a16="http://schemas.microsoft.com/office/drawing/2014/main" id="{B6558A96-9DDC-7D79-0E26-0070A1BCA145}"/>
              </a:ext>
            </a:extLst>
          </p:cNvPr>
          <p:cNvSpPr/>
          <p:nvPr/>
        </p:nvSpPr>
        <p:spPr>
          <a:xfrm>
            <a:off x="3955756" y="3964643"/>
            <a:ext cx="7574376" cy="807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Guarda “Fotografía de Dealers que se deben sincronizar” con API:  POST </a:t>
            </a:r>
          </a:p>
          <a:p>
            <a:pPr algn="ctr"/>
            <a:r>
              <a:rPr lang="es-MX" sz="1400" dirty="0" err="1">
                <a:solidFill>
                  <a:schemeClr val="accent6">
                    <a:lumMod val="75000"/>
                  </a:schemeClr>
                </a:solidFill>
              </a:rPr>
              <a:t>EventoCargaSnapshotDealers</a:t>
            </a:r>
            <a:r>
              <a:rPr lang="es-MX" sz="1400" dirty="0"/>
              <a:t> - </a:t>
            </a:r>
            <a:r>
              <a:rPr lang="es-MX" sz="1400" dirty="0" err="1">
                <a:solidFill>
                  <a:schemeClr val="accent2">
                    <a:lumMod val="75000"/>
                  </a:schemeClr>
                </a:solidFill>
              </a:rPr>
              <a:t>FotoDealersCargaArchivoSinc</a:t>
            </a:r>
            <a:r>
              <a:rPr lang="es-MX" sz="1400" dirty="0"/>
              <a:t> -&gt; Inserta listado de N dealers en la fotografía</a:t>
            </a:r>
          </a:p>
        </p:txBody>
      </p:sp>
      <p:sp>
        <p:nvSpPr>
          <p:cNvPr id="14" name="Rectángulo 13">
            <a:extLst>
              <a:ext uri="{FF2B5EF4-FFF2-40B4-BE49-F238E27FC236}">
                <a16:creationId xmlns:a16="http://schemas.microsoft.com/office/drawing/2014/main" id="{14BA5CB2-EF7B-D99F-5FC6-B82A736C4B67}"/>
              </a:ext>
            </a:extLst>
          </p:cNvPr>
          <p:cNvSpPr/>
          <p:nvPr/>
        </p:nvSpPr>
        <p:spPr>
          <a:xfrm>
            <a:off x="3955755" y="4912062"/>
            <a:ext cx="5792639"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Se sube (</a:t>
            </a:r>
            <a:r>
              <a:rPr lang="es-MX" sz="1400" dirty="0" err="1"/>
              <a:t>upload</a:t>
            </a:r>
            <a:r>
              <a:rPr lang="es-MX" sz="1400" dirty="0"/>
              <a:t>) del archivo original a </a:t>
            </a:r>
            <a:r>
              <a:rPr lang="es-MX" sz="1400" dirty="0" err="1"/>
              <a:t>cloud</a:t>
            </a:r>
            <a:r>
              <a:rPr lang="es-MX" sz="1400" dirty="0"/>
              <a:t> (Azure Container)</a:t>
            </a:r>
          </a:p>
        </p:txBody>
      </p:sp>
      <p:sp>
        <p:nvSpPr>
          <p:cNvPr id="15" name="Rectángulo 14">
            <a:extLst>
              <a:ext uri="{FF2B5EF4-FFF2-40B4-BE49-F238E27FC236}">
                <a16:creationId xmlns:a16="http://schemas.microsoft.com/office/drawing/2014/main" id="{6A30462C-FF8E-D846-EF9E-E7FE6708B184}"/>
              </a:ext>
            </a:extLst>
          </p:cNvPr>
          <p:cNvSpPr/>
          <p:nvPr/>
        </p:nvSpPr>
        <p:spPr>
          <a:xfrm>
            <a:off x="3955755" y="5671575"/>
            <a:ext cx="5792639"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Se registra evento en bitácora de eventos general:   API: </a:t>
            </a:r>
            <a:r>
              <a:rPr lang="es-MX" sz="1400" dirty="0" err="1"/>
              <a:t>EventosBitacoraEventos</a:t>
            </a:r>
            <a:r>
              <a:rPr lang="es-MX" sz="1400" dirty="0"/>
              <a:t> </a:t>
            </a:r>
          </a:p>
        </p:txBody>
      </p:sp>
      <p:sp>
        <p:nvSpPr>
          <p:cNvPr id="16" name="Rectángulo 15">
            <a:extLst>
              <a:ext uri="{FF2B5EF4-FFF2-40B4-BE49-F238E27FC236}">
                <a16:creationId xmlns:a16="http://schemas.microsoft.com/office/drawing/2014/main" id="{8EAAFA31-3F9C-D4A0-D734-7BF5D3476265}"/>
              </a:ext>
            </a:extLst>
          </p:cNvPr>
          <p:cNvSpPr/>
          <p:nvPr/>
        </p:nvSpPr>
        <p:spPr>
          <a:xfrm>
            <a:off x="297438" y="6119104"/>
            <a:ext cx="3056313" cy="619760"/>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Proceso APIS disponibles de  consulta para sincronizar Clientes</a:t>
            </a:r>
          </a:p>
        </p:txBody>
      </p:sp>
      <p:sp>
        <p:nvSpPr>
          <p:cNvPr id="17" name="CuadroTexto 16">
            <a:extLst>
              <a:ext uri="{FF2B5EF4-FFF2-40B4-BE49-F238E27FC236}">
                <a16:creationId xmlns:a16="http://schemas.microsoft.com/office/drawing/2014/main" id="{7F9C58CB-B691-336E-188F-B1912E72571F}"/>
              </a:ext>
            </a:extLst>
          </p:cNvPr>
          <p:cNvSpPr txBox="1"/>
          <p:nvPr/>
        </p:nvSpPr>
        <p:spPr>
          <a:xfrm>
            <a:off x="5366254" y="368045"/>
            <a:ext cx="5406545" cy="369332"/>
          </a:xfrm>
          <a:prstGeom prst="rect">
            <a:avLst/>
          </a:prstGeom>
          <a:noFill/>
        </p:spPr>
        <p:txBody>
          <a:bodyPr wrap="none" rtlCol="0">
            <a:spAutoFit/>
          </a:bodyPr>
          <a:lstStyle/>
          <a:p>
            <a:r>
              <a:rPr lang="es-MX" b="1" dirty="0"/>
              <a:t>Server: “Subir Archivo y Sincronización Back-</a:t>
            </a:r>
            <a:r>
              <a:rPr lang="es-MX" b="1" dirty="0" err="1"/>
              <a:t>end</a:t>
            </a:r>
            <a:r>
              <a:rPr lang="es-MX" b="1" dirty="0"/>
              <a:t>”</a:t>
            </a:r>
          </a:p>
        </p:txBody>
      </p:sp>
    </p:spTree>
    <p:extLst>
      <p:ext uri="{BB962C8B-B14F-4D97-AF65-F5344CB8AC3E}">
        <p14:creationId xmlns:p14="http://schemas.microsoft.com/office/powerpoint/2010/main" val="4016784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A7EE81-FCE4-CEEA-D396-A218CF6B3066}"/>
              </a:ext>
            </a:extLst>
          </p:cNvPr>
          <p:cNvSpPr/>
          <p:nvPr/>
        </p:nvSpPr>
        <p:spPr>
          <a:xfrm>
            <a:off x="1395614" y="1700877"/>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Login</a:t>
            </a:r>
            <a:r>
              <a:rPr lang="es-MX" dirty="0"/>
              <a:t>: usuario/contraseña: obtiene el </a:t>
            </a:r>
            <a:r>
              <a:rPr lang="es-MX" dirty="0" err="1"/>
              <a:t>jwt</a:t>
            </a:r>
            <a:r>
              <a:rPr lang="es-MX" dirty="0"/>
              <a:t> token</a:t>
            </a:r>
          </a:p>
        </p:txBody>
      </p:sp>
      <p:sp>
        <p:nvSpPr>
          <p:cNvPr id="5" name="Rectángulo 4">
            <a:extLst>
              <a:ext uri="{FF2B5EF4-FFF2-40B4-BE49-F238E27FC236}">
                <a16:creationId xmlns:a16="http://schemas.microsoft.com/office/drawing/2014/main" id="{982FF3E0-6289-FC77-67A7-C3FE872324D8}"/>
              </a:ext>
            </a:extLst>
          </p:cNvPr>
          <p:cNvSpPr/>
          <p:nvPr/>
        </p:nvSpPr>
        <p:spPr>
          <a:xfrm>
            <a:off x="1395614" y="820190"/>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Robot/Cron: Cada n minutos ejecuta el script </a:t>
            </a:r>
          </a:p>
        </p:txBody>
      </p:sp>
      <p:sp>
        <p:nvSpPr>
          <p:cNvPr id="6" name="Rectángulo 5">
            <a:extLst>
              <a:ext uri="{FF2B5EF4-FFF2-40B4-BE49-F238E27FC236}">
                <a16:creationId xmlns:a16="http://schemas.microsoft.com/office/drawing/2014/main" id="{B563A25D-81A3-E823-5D00-FC81B5E6EA77}"/>
              </a:ext>
            </a:extLst>
          </p:cNvPr>
          <p:cNvSpPr/>
          <p:nvPr/>
        </p:nvSpPr>
        <p:spPr>
          <a:xfrm>
            <a:off x="1395613" y="2509059"/>
            <a:ext cx="4554711"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dirty="0"/>
              <a:t>Consume api: &lt;</a:t>
            </a:r>
            <a:r>
              <a:rPr lang="es-MX" sz="1600" dirty="0" err="1"/>
              <a:t>cargaArchivoSincActual</a:t>
            </a:r>
            <a:r>
              <a:rPr lang="es-MX" sz="1600" dirty="0"/>
              <a:t>&gt; Proceso</a:t>
            </a:r>
          </a:p>
          <a:p>
            <a:pPr algn="ctr"/>
            <a:r>
              <a:rPr lang="es-MX" sz="1600" dirty="0"/>
              <a:t>“</a:t>
            </a:r>
            <a:r>
              <a:rPr lang="es-MX" sz="1600" dirty="0" err="1"/>
              <a:t>ProductList</a:t>
            </a:r>
            <a:r>
              <a:rPr lang="es-MX" sz="1600" dirty="0"/>
              <a:t>”</a:t>
            </a:r>
          </a:p>
        </p:txBody>
      </p:sp>
      <p:sp>
        <p:nvSpPr>
          <p:cNvPr id="7" name="Rectángulo 6">
            <a:extLst>
              <a:ext uri="{FF2B5EF4-FFF2-40B4-BE49-F238E27FC236}">
                <a16:creationId xmlns:a16="http://schemas.microsoft.com/office/drawing/2014/main" id="{424B1119-4473-DF92-5EC2-AFD498BEDC86}"/>
              </a:ext>
            </a:extLst>
          </p:cNvPr>
          <p:cNvSpPr/>
          <p:nvPr/>
        </p:nvSpPr>
        <p:spPr>
          <a:xfrm>
            <a:off x="1395613" y="3317241"/>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Hay nueva versión: Sincronizar</a:t>
            </a:r>
          </a:p>
        </p:txBody>
      </p:sp>
      <p:sp>
        <p:nvSpPr>
          <p:cNvPr id="8" name="Rectángulo 7">
            <a:extLst>
              <a:ext uri="{FF2B5EF4-FFF2-40B4-BE49-F238E27FC236}">
                <a16:creationId xmlns:a16="http://schemas.microsoft.com/office/drawing/2014/main" id="{48BB8724-D855-E19A-4A1A-952C50B85F58}"/>
              </a:ext>
            </a:extLst>
          </p:cNvPr>
          <p:cNvSpPr/>
          <p:nvPr/>
        </p:nvSpPr>
        <p:spPr>
          <a:xfrm>
            <a:off x="5012533" y="3310517"/>
            <a:ext cx="3056313"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Tengo la versión mas actual: Finalizar</a:t>
            </a:r>
          </a:p>
        </p:txBody>
      </p:sp>
      <p:sp>
        <p:nvSpPr>
          <p:cNvPr id="9" name="Rectángulo 8">
            <a:extLst>
              <a:ext uri="{FF2B5EF4-FFF2-40B4-BE49-F238E27FC236}">
                <a16:creationId xmlns:a16="http://schemas.microsoft.com/office/drawing/2014/main" id="{37F63892-4D62-1E1B-40C6-B070A8FFE8C1}"/>
              </a:ext>
            </a:extLst>
          </p:cNvPr>
          <p:cNvSpPr/>
          <p:nvPr/>
        </p:nvSpPr>
        <p:spPr>
          <a:xfrm>
            <a:off x="1395613" y="4125424"/>
            <a:ext cx="3855463" cy="6197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Implementar sincronización propia con tablas locales (Mantener llaves requeridas)</a:t>
            </a:r>
          </a:p>
        </p:txBody>
      </p:sp>
      <p:sp>
        <p:nvSpPr>
          <p:cNvPr id="10" name="Rectángulo 9">
            <a:extLst>
              <a:ext uri="{FF2B5EF4-FFF2-40B4-BE49-F238E27FC236}">
                <a16:creationId xmlns:a16="http://schemas.microsoft.com/office/drawing/2014/main" id="{A5110694-B0CC-B43F-70DC-BEFFD579DDBD}"/>
              </a:ext>
            </a:extLst>
          </p:cNvPr>
          <p:cNvSpPr/>
          <p:nvPr/>
        </p:nvSpPr>
        <p:spPr>
          <a:xfrm>
            <a:off x="1395613" y="4890222"/>
            <a:ext cx="4023552"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t>Guardo en local los valores clave del Proceso de Sincronización (</a:t>
            </a:r>
            <a:r>
              <a:rPr lang="es-MX" sz="1200" dirty="0" err="1"/>
              <a:t>fecha_Carga</a:t>
            </a:r>
            <a:r>
              <a:rPr lang="es-MX" sz="1200" dirty="0"/>
              <a:t>_ </a:t>
            </a:r>
            <a:r>
              <a:rPr lang="es-MX" sz="1200" dirty="0" err="1"/>
              <a:t>idCarga</a:t>
            </a:r>
            <a:r>
              <a:rPr lang="es-MX" sz="1200" dirty="0"/>
              <a:t>)</a:t>
            </a:r>
          </a:p>
        </p:txBody>
      </p:sp>
      <p:sp>
        <p:nvSpPr>
          <p:cNvPr id="11" name="Rectángulo 10">
            <a:extLst>
              <a:ext uri="{FF2B5EF4-FFF2-40B4-BE49-F238E27FC236}">
                <a16:creationId xmlns:a16="http://schemas.microsoft.com/office/drawing/2014/main" id="{7670F644-637F-9D97-6B79-81CA2C47B493}"/>
              </a:ext>
            </a:extLst>
          </p:cNvPr>
          <p:cNvSpPr/>
          <p:nvPr/>
        </p:nvSpPr>
        <p:spPr>
          <a:xfrm>
            <a:off x="1395612" y="5705129"/>
            <a:ext cx="460850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t>Consumir API: Confirmar Sincronización realizada.</a:t>
            </a:r>
          </a:p>
          <a:p>
            <a:pPr algn="ctr"/>
            <a:r>
              <a:rPr lang="es-MX" sz="1400" dirty="0"/>
              <a:t>API: &lt;</a:t>
            </a:r>
            <a:r>
              <a:rPr lang="es-MX" sz="1400" dirty="0" err="1"/>
              <a:t>confirmar_sinc</a:t>
            </a:r>
            <a:r>
              <a:rPr lang="es-MX" sz="1400" dirty="0"/>
              <a:t>&gt;   “</a:t>
            </a:r>
            <a:r>
              <a:rPr lang="es-MX" sz="1400" dirty="0" err="1"/>
              <a:t>cargaId</a:t>
            </a:r>
            <a:r>
              <a:rPr lang="es-MX" sz="1400" dirty="0"/>
              <a:t>” “</a:t>
            </a:r>
            <a:r>
              <a:rPr lang="es-MX" sz="1400" dirty="0" err="1"/>
              <a:t>jwtToken</a:t>
            </a:r>
            <a:r>
              <a:rPr lang="es-MX" sz="1400" dirty="0"/>
              <a:t>”</a:t>
            </a:r>
          </a:p>
          <a:p>
            <a:pPr algn="ctr"/>
            <a:r>
              <a:rPr lang="es-MX" sz="1400" dirty="0"/>
              <a:t>Tabla: </a:t>
            </a:r>
            <a:r>
              <a:rPr lang="es-MX" sz="1400" dirty="0" err="1">
                <a:solidFill>
                  <a:schemeClr val="accent6">
                    <a:lumMod val="75000"/>
                  </a:schemeClr>
                </a:solidFill>
              </a:rPr>
              <a:t>CO_sincronizacioncargaprocesodealer</a:t>
            </a:r>
            <a:endParaRPr lang="es-MX" sz="1400" dirty="0">
              <a:solidFill>
                <a:schemeClr val="accent6">
                  <a:lumMod val="75000"/>
                </a:schemeClr>
              </a:solidFill>
            </a:endParaRPr>
          </a:p>
        </p:txBody>
      </p:sp>
      <p:sp>
        <p:nvSpPr>
          <p:cNvPr id="2" name="CuadroTexto 1">
            <a:extLst>
              <a:ext uri="{FF2B5EF4-FFF2-40B4-BE49-F238E27FC236}">
                <a16:creationId xmlns:a16="http://schemas.microsoft.com/office/drawing/2014/main" id="{96E0D502-443F-7D17-8F58-2C7CC8B00B99}"/>
              </a:ext>
            </a:extLst>
          </p:cNvPr>
          <p:cNvSpPr txBox="1"/>
          <p:nvPr/>
        </p:nvSpPr>
        <p:spPr>
          <a:xfrm>
            <a:off x="5366254" y="368045"/>
            <a:ext cx="5613270" cy="923330"/>
          </a:xfrm>
          <a:prstGeom prst="rect">
            <a:avLst/>
          </a:prstGeom>
          <a:noFill/>
        </p:spPr>
        <p:txBody>
          <a:bodyPr wrap="square" rtlCol="0">
            <a:spAutoFit/>
          </a:bodyPr>
          <a:lstStyle/>
          <a:p>
            <a:r>
              <a:rPr lang="es-MX" b="1" dirty="0"/>
              <a:t>Cliente: “En ambiente Local consulta Procesos con </a:t>
            </a:r>
            <a:r>
              <a:rPr lang="es-MX" b="1" dirty="0" err="1"/>
              <a:t>APIs</a:t>
            </a:r>
            <a:r>
              <a:rPr lang="es-MX" b="1" dirty="0"/>
              <a:t> y sincroniza datos con el sistema local para tener la versión más actual central.”</a:t>
            </a:r>
          </a:p>
        </p:txBody>
      </p:sp>
    </p:spTree>
    <p:extLst>
      <p:ext uri="{BB962C8B-B14F-4D97-AF65-F5344CB8AC3E}">
        <p14:creationId xmlns:p14="http://schemas.microsoft.com/office/powerpoint/2010/main" val="401459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22D5540E-E595-D14F-5389-88A46DC9F237}"/>
              </a:ext>
            </a:extLst>
          </p:cNvPr>
          <p:cNvGraphicFramePr>
            <a:graphicFrameLocks noGrp="1"/>
          </p:cNvGraphicFramePr>
          <p:nvPr>
            <p:extLst>
              <p:ext uri="{D42A27DB-BD31-4B8C-83A1-F6EECF244321}">
                <p14:modId xmlns:p14="http://schemas.microsoft.com/office/powerpoint/2010/main" val="3550930275"/>
              </p:ext>
            </p:extLst>
          </p:nvPr>
        </p:nvGraphicFramePr>
        <p:xfrm>
          <a:off x="430304" y="386788"/>
          <a:ext cx="11060208" cy="5819029"/>
        </p:xfrm>
        <a:graphic>
          <a:graphicData uri="http://schemas.openxmlformats.org/drawingml/2006/table">
            <a:tbl>
              <a:tblPr/>
              <a:tblGrid>
                <a:gridCol w="921684">
                  <a:extLst>
                    <a:ext uri="{9D8B030D-6E8A-4147-A177-3AD203B41FA5}">
                      <a16:colId xmlns:a16="http://schemas.microsoft.com/office/drawing/2014/main" val="3998950388"/>
                    </a:ext>
                  </a:extLst>
                </a:gridCol>
                <a:gridCol w="921684">
                  <a:extLst>
                    <a:ext uri="{9D8B030D-6E8A-4147-A177-3AD203B41FA5}">
                      <a16:colId xmlns:a16="http://schemas.microsoft.com/office/drawing/2014/main" val="1395148475"/>
                    </a:ext>
                  </a:extLst>
                </a:gridCol>
                <a:gridCol w="921684">
                  <a:extLst>
                    <a:ext uri="{9D8B030D-6E8A-4147-A177-3AD203B41FA5}">
                      <a16:colId xmlns:a16="http://schemas.microsoft.com/office/drawing/2014/main" val="3937813730"/>
                    </a:ext>
                  </a:extLst>
                </a:gridCol>
                <a:gridCol w="921684">
                  <a:extLst>
                    <a:ext uri="{9D8B030D-6E8A-4147-A177-3AD203B41FA5}">
                      <a16:colId xmlns:a16="http://schemas.microsoft.com/office/drawing/2014/main" val="575914593"/>
                    </a:ext>
                  </a:extLst>
                </a:gridCol>
                <a:gridCol w="921684">
                  <a:extLst>
                    <a:ext uri="{9D8B030D-6E8A-4147-A177-3AD203B41FA5}">
                      <a16:colId xmlns:a16="http://schemas.microsoft.com/office/drawing/2014/main" val="406219866"/>
                    </a:ext>
                  </a:extLst>
                </a:gridCol>
                <a:gridCol w="921684">
                  <a:extLst>
                    <a:ext uri="{9D8B030D-6E8A-4147-A177-3AD203B41FA5}">
                      <a16:colId xmlns:a16="http://schemas.microsoft.com/office/drawing/2014/main" val="217230147"/>
                    </a:ext>
                  </a:extLst>
                </a:gridCol>
                <a:gridCol w="921684">
                  <a:extLst>
                    <a:ext uri="{9D8B030D-6E8A-4147-A177-3AD203B41FA5}">
                      <a16:colId xmlns:a16="http://schemas.microsoft.com/office/drawing/2014/main" val="1903873799"/>
                    </a:ext>
                  </a:extLst>
                </a:gridCol>
                <a:gridCol w="921684">
                  <a:extLst>
                    <a:ext uri="{9D8B030D-6E8A-4147-A177-3AD203B41FA5}">
                      <a16:colId xmlns:a16="http://schemas.microsoft.com/office/drawing/2014/main" val="3498048887"/>
                    </a:ext>
                  </a:extLst>
                </a:gridCol>
                <a:gridCol w="921684">
                  <a:extLst>
                    <a:ext uri="{9D8B030D-6E8A-4147-A177-3AD203B41FA5}">
                      <a16:colId xmlns:a16="http://schemas.microsoft.com/office/drawing/2014/main" val="1962080675"/>
                    </a:ext>
                  </a:extLst>
                </a:gridCol>
                <a:gridCol w="921684">
                  <a:extLst>
                    <a:ext uri="{9D8B030D-6E8A-4147-A177-3AD203B41FA5}">
                      <a16:colId xmlns:a16="http://schemas.microsoft.com/office/drawing/2014/main" val="2555499117"/>
                    </a:ext>
                  </a:extLst>
                </a:gridCol>
                <a:gridCol w="921684">
                  <a:extLst>
                    <a:ext uri="{9D8B030D-6E8A-4147-A177-3AD203B41FA5}">
                      <a16:colId xmlns:a16="http://schemas.microsoft.com/office/drawing/2014/main" val="72298330"/>
                    </a:ext>
                  </a:extLst>
                </a:gridCol>
                <a:gridCol w="921684">
                  <a:extLst>
                    <a:ext uri="{9D8B030D-6E8A-4147-A177-3AD203B41FA5}">
                      <a16:colId xmlns:a16="http://schemas.microsoft.com/office/drawing/2014/main" val="1007444302"/>
                    </a:ext>
                  </a:extLst>
                </a:gridCol>
              </a:tblGrid>
              <a:tr h="369462">
                <a:tc>
                  <a:txBody>
                    <a:bodyPr/>
                    <a:lstStyle/>
                    <a:p>
                      <a:pPr>
                        <a:buNone/>
                      </a:pPr>
                      <a:r>
                        <a:rPr lang="es-MX" sz="700"/>
                        <a:t>#</a:t>
                      </a:r>
                    </a:p>
                  </a:txBody>
                  <a:tcPr marL="17267" marR="17267" marT="8634" marB="8634" anchor="ctr">
                    <a:lnL>
                      <a:noFill/>
                    </a:lnL>
                    <a:lnR>
                      <a:noFill/>
                    </a:lnR>
                    <a:lnT>
                      <a:noFill/>
                    </a:lnT>
                    <a:lnB>
                      <a:noFill/>
                    </a:lnB>
                    <a:noFill/>
                  </a:tcPr>
                </a:tc>
                <a:tc>
                  <a:txBody>
                    <a:bodyPr/>
                    <a:lstStyle/>
                    <a:p>
                      <a:pPr>
                        <a:buNone/>
                      </a:pPr>
                      <a:r>
                        <a:rPr lang="es-MX" sz="700"/>
                        <a:t>Estrategia</a:t>
                      </a:r>
                    </a:p>
                  </a:txBody>
                  <a:tcPr marL="17267" marR="17267" marT="8634" marB="8634" anchor="ctr">
                    <a:lnL>
                      <a:noFill/>
                    </a:lnL>
                    <a:lnR>
                      <a:noFill/>
                    </a:lnR>
                    <a:lnT>
                      <a:noFill/>
                    </a:lnT>
                    <a:lnB>
                      <a:noFill/>
                    </a:lnB>
                    <a:noFill/>
                  </a:tcPr>
                </a:tc>
                <a:tc>
                  <a:txBody>
                    <a:bodyPr/>
                    <a:lstStyle/>
                    <a:p>
                      <a:pPr>
                        <a:buNone/>
                      </a:pPr>
                      <a:r>
                        <a:rPr lang="es-MX" sz="700"/>
                        <a:t>Resumen de la estrategia</a:t>
                      </a:r>
                    </a:p>
                  </a:txBody>
                  <a:tcPr marL="17267" marR="17267" marT="8634" marB="8634" anchor="ctr">
                    <a:lnL>
                      <a:noFill/>
                    </a:lnL>
                    <a:lnR>
                      <a:noFill/>
                    </a:lnR>
                    <a:lnT>
                      <a:noFill/>
                    </a:lnT>
                    <a:lnB>
                      <a:noFill/>
                    </a:lnB>
                    <a:noFill/>
                  </a:tcPr>
                </a:tc>
                <a:tc>
                  <a:txBody>
                    <a:bodyPr/>
                    <a:lstStyle/>
                    <a:p>
                      <a:pPr>
                        <a:buNone/>
                      </a:pPr>
                      <a:r>
                        <a:rPr lang="es-MX" sz="700"/>
                        <a:t>Beneficios</a:t>
                      </a:r>
                    </a:p>
                  </a:txBody>
                  <a:tcPr marL="17267" marR="17267" marT="8634" marB="8634" anchor="ctr">
                    <a:lnL>
                      <a:noFill/>
                    </a:lnL>
                    <a:lnR>
                      <a:noFill/>
                    </a:lnR>
                    <a:lnT>
                      <a:noFill/>
                    </a:lnT>
                    <a:lnB>
                      <a:noFill/>
                    </a:lnB>
                    <a:noFill/>
                  </a:tcPr>
                </a:tc>
                <a:tc>
                  <a:txBody>
                    <a:bodyPr/>
                    <a:lstStyle/>
                    <a:p>
                      <a:pPr>
                        <a:buNone/>
                      </a:pPr>
                      <a:r>
                        <a:rPr lang="es-MX" sz="700"/>
                        <a:t>Contras</a:t>
                      </a:r>
                    </a:p>
                  </a:txBody>
                  <a:tcPr marL="17267" marR="17267" marT="8634" marB="8634" anchor="ctr">
                    <a:lnL>
                      <a:noFill/>
                    </a:lnL>
                    <a:lnR>
                      <a:noFill/>
                    </a:lnR>
                    <a:lnT>
                      <a:noFill/>
                    </a:lnT>
                    <a:lnB>
                      <a:noFill/>
                    </a:lnB>
                    <a:noFill/>
                  </a:tcPr>
                </a:tc>
                <a:tc>
                  <a:txBody>
                    <a:bodyPr/>
                    <a:lstStyle/>
                    <a:p>
                      <a:pPr>
                        <a:buNone/>
                      </a:pPr>
                      <a:r>
                        <a:rPr lang="es-MX" sz="700"/>
                        <a:t>Tecnologías recomendadas</a:t>
                      </a:r>
                    </a:p>
                  </a:txBody>
                  <a:tcPr marL="17267" marR="17267" marT="8634" marB="8634" anchor="ctr">
                    <a:lnL>
                      <a:noFill/>
                    </a:lnL>
                    <a:lnR>
                      <a:noFill/>
                    </a:lnR>
                    <a:lnT>
                      <a:noFill/>
                    </a:lnT>
                    <a:lnB>
                      <a:noFill/>
                    </a:lnB>
                    <a:noFill/>
                  </a:tcPr>
                </a:tc>
                <a:tc>
                  <a:txBody>
                    <a:bodyPr/>
                    <a:lstStyle/>
                    <a:p>
                      <a:pPr>
                        <a:buNone/>
                      </a:pPr>
                      <a:r>
                        <a:rPr lang="es-MX" sz="700"/>
                        <a:t>Performance</a:t>
                      </a:r>
                    </a:p>
                  </a:txBody>
                  <a:tcPr marL="17267" marR="17267" marT="8634" marB="8634" anchor="ctr">
                    <a:lnL>
                      <a:noFill/>
                    </a:lnL>
                    <a:lnR>
                      <a:noFill/>
                    </a:lnR>
                    <a:lnT>
                      <a:noFill/>
                    </a:lnT>
                    <a:lnB>
                      <a:noFill/>
                    </a:lnB>
                    <a:noFill/>
                  </a:tcPr>
                </a:tc>
                <a:tc>
                  <a:txBody>
                    <a:bodyPr/>
                    <a:lstStyle/>
                    <a:p>
                      <a:pPr>
                        <a:buNone/>
                      </a:pPr>
                      <a:r>
                        <a:rPr lang="es-MX" sz="700"/>
                        <a:t>Confiabilidad</a:t>
                      </a:r>
                    </a:p>
                  </a:txBody>
                  <a:tcPr marL="17267" marR="17267" marT="8634" marB="8634" anchor="ctr">
                    <a:lnL>
                      <a:noFill/>
                    </a:lnL>
                    <a:lnR>
                      <a:noFill/>
                    </a:lnR>
                    <a:lnT>
                      <a:noFill/>
                    </a:lnT>
                    <a:lnB>
                      <a:noFill/>
                    </a:lnB>
                    <a:noFill/>
                  </a:tcPr>
                </a:tc>
                <a:tc>
                  <a:txBody>
                    <a:bodyPr/>
                    <a:lstStyle/>
                    <a:p>
                      <a:pPr>
                        <a:buNone/>
                      </a:pPr>
                      <a:r>
                        <a:rPr lang="es-MX" sz="700"/>
                        <a:t>Escalabilidad</a:t>
                      </a:r>
                    </a:p>
                  </a:txBody>
                  <a:tcPr marL="17267" marR="17267" marT="8634" marB="8634" anchor="ctr">
                    <a:lnL>
                      <a:noFill/>
                    </a:lnL>
                    <a:lnR>
                      <a:noFill/>
                    </a:lnR>
                    <a:lnT>
                      <a:noFill/>
                    </a:lnT>
                    <a:lnB>
                      <a:noFill/>
                    </a:lnB>
                    <a:noFill/>
                  </a:tcPr>
                </a:tc>
                <a:tc>
                  <a:txBody>
                    <a:bodyPr/>
                    <a:lstStyle/>
                    <a:p>
                      <a:pPr>
                        <a:buNone/>
                      </a:pPr>
                      <a:r>
                        <a:rPr lang="es-MX" sz="700"/>
                        <a:t>Complejidad operativa</a:t>
                      </a:r>
                    </a:p>
                  </a:txBody>
                  <a:tcPr marL="17267" marR="17267" marT="8634" marB="8634" anchor="ctr">
                    <a:lnL>
                      <a:noFill/>
                    </a:lnL>
                    <a:lnR>
                      <a:noFill/>
                    </a:lnR>
                    <a:lnT>
                      <a:noFill/>
                    </a:lnT>
                    <a:lnB>
                      <a:noFill/>
                    </a:lnB>
                    <a:noFill/>
                  </a:tcPr>
                </a:tc>
                <a:tc>
                  <a:txBody>
                    <a:bodyPr/>
                    <a:lstStyle/>
                    <a:p>
                      <a:pPr>
                        <a:buNone/>
                      </a:pPr>
                      <a:r>
                        <a:rPr lang="es-MX" sz="700"/>
                        <a:t>Costo</a:t>
                      </a:r>
                    </a:p>
                  </a:txBody>
                  <a:tcPr marL="17267" marR="17267" marT="8634" marB="8634" anchor="ctr">
                    <a:lnL>
                      <a:noFill/>
                    </a:lnL>
                    <a:lnR>
                      <a:noFill/>
                    </a:lnR>
                    <a:lnT>
                      <a:noFill/>
                    </a:lnT>
                    <a:lnB>
                      <a:noFill/>
                    </a:lnB>
                    <a:noFill/>
                  </a:tcPr>
                </a:tc>
                <a:tc>
                  <a:txBody>
                    <a:bodyPr/>
                    <a:lstStyle/>
                    <a:p>
                      <a:pPr>
                        <a:buNone/>
                      </a:pPr>
                      <a:r>
                        <a:rPr lang="es-MX" sz="700"/>
                        <a:t>Recomendación global</a:t>
                      </a:r>
                    </a:p>
                  </a:txBody>
                  <a:tcPr marL="17267" marR="17267" marT="8634" marB="8634" anchor="ctr">
                    <a:lnL>
                      <a:noFill/>
                    </a:lnL>
                    <a:lnR>
                      <a:noFill/>
                    </a:lnR>
                    <a:lnT>
                      <a:noFill/>
                    </a:lnT>
                    <a:lnB>
                      <a:noFill/>
                    </a:lnB>
                    <a:noFill/>
                  </a:tcPr>
                </a:tc>
                <a:extLst>
                  <a:ext uri="{0D108BD9-81ED-4DB2-BD59-A6C34878D82A}">
                    <a16:rowId xmlns:a16="http://schemas.microsoft.com/office/drawing/2014/main" val="1112056093"/>
                  </a:ext>
                </a:extLst>
              </a:tr>
              <a:tr h="1200752">
                <a:tc>
                  <a:txBody>
                    <a:bodyPr/>
                    <a:lstStyle/>
                    <a:p>
                      <a:pPr>
                        <a:buNone/>
                      </a:pPr>
                      <a:r>
                        <a:rPr lang="es-MX" sz="700" b="1"/>
                        <a:t>1</a:t>
                      </a:r>
                      <a:endParaRPr lang="es-MX" sz="700"/>
                    </a:p>
                  </a:txBody>
                  <a:tcPr marL="17267" marR="17267" marT="8634" marB="8634" anchor="ctr">
                    <a:lnL>
                      <a:noFill/>
                    </a:lnL>
                    <a:lnR>
                      <a:noFill/>
                    </a:lnR>
                    <a:lnT>
                      <a:noFill/>
                    </a:lnT>
                    <a:lnB>
                      <a:noFill/>
                    </a:lnB>
                    <a:noFill/>
                  </a:tcPr>
                </a:tc>
                <a:tc>
                  <a:txBody>
                    <a:bodyPr/>
                    <a:lstStyle/>
                    <a:p>
                      <a:pPr>
                        <a:buNone/>
                      </a:pPr>
                      <a:r>
                        <a:rPr lang="es-MX" sz="700" b="1"/>
                        <a:t>Pull periódico (Cron + API)</a:t>
                      </a:r>
                      <a:endParaRPr lang="es-MX" sz="700"/>
                    </a:p>
                  </a:txBody>
                  <a:tcPr marL="17267" marR="17267" marT="8634" marB="8634" anchor="ctr">
                    <a:lnL>
                      <a:noFill/>
                    </a:lnL>
                    <a:lnR>
                      <a:noFill/>
                    </a:lnR>
                    <a:lnT>
                      <a:noFill/>
                    </a:lnT>
                    <a:lnB>
                      <a:noFill/>
                    </a:lnB>
                    <a:noFill/>
                  </a:tcPr>
                </a:tc>
                <a:tc>
                  <a:txBody>
                    <a:bodyPr/>
                    <a:lstStyle/>
                    <a:p>
                      <a:pPr>
                        <a:buNone/>
                      </a:pPr>
                      <a:r>
                        <a:rPr lang="es-ES" sz="700"/>
                        <a:t>Cada cliente ejecuta un cron que consulta al servidor central si hay cambios y descarga los datos</a:t>
                      </a:r>
                    </a:p>
                  </a:txBody>
                  <a:tcPr marL="17267" marR="17267" marT="8634" marB="8634" anchor="ctr">
                    <a:lnL>
                      <a:noFill/>
                    </a:lnL>
                    <a:lnR>
                      <a:noFill/>
                    </a:lnR>
                    <a:lnT>
                      <a:noFill/>
                    </a:lnT>
                    <a:lnB>
                      <a:noFill/>
                    </a:lnB>
                    <a:noFill/>
                  </a:tcPr>
                </a:tc>
                <a:tc>
                  <a:txBody>
                    <a:bodyPr/>
                    <a:lstStyle/>
                    <a:p>
                      <a:pPr>
                        <a:buNone/>
                      </a:pPr>
                      <a:r>
                        <a:rPr lang="es-MX" sz="700"/>
                        <a:t>Simple de implementar, fácil de depurar, no requiere infra adicional</a:t>
                      </a:r>
                    </a:p>
                  </a:txBody>
                  <a:tcPr marL="17267" marR="17267" marT="8634" marB="8634" anchor="ctr">
                    <a:lnL>
                      <a:noFill/>
                    </a:lnL>
                    <a:lnR>
                      <a:noFill/>
                    </a:lnR>
                    <a:lnT>
                      <a:noFill/>
                    </a:lnT>
                    <a:lnB>
                      <a:noFill/>
                    </a:lnB>
                    <a:noFill/>
                  </a:tcPr>
                </a:tc>
                <a:tc>
                  <a:txBody>
                    <a:bodyPr/>
                    <a:lstStyle/>
                    <a:p>
                      <a:pPr>
                        <a:buNone/>
                      </a:pPr>
                      <a:r>
                        <a:rPr lang="es-ES" sz="700"/>
                        <a:t>Latencia alta, tráfico innecesario, carga constante al server</a:t>
                      </a:r>
                    </a:p>
                  </a:txBody>
                  <a:tcPr marL="17267" marR="17267" marT="8634" marB="8634" anchor="ctr">
                    <a:lnL>
                      <a:noFill/>
                    </a:lnL>
                    <a:lnR>
                      <a:noFill/>
                    </a:lnR>
                    <a:lnT>
                      <a:noFill/>
                    </a:lnT>
                    <a:lnB>
                      <a:noFill/>
                    </a:lnB>
                    <a:noFill/>
                  </a:tcPr>
                </a:tc>
                <a:tc>
                  <a:txBody>
                    <a:bodyPr/>
                    <a:lstStyle/>
                    <a:p>
                      <a:pPr>
                        <a:buNone/>
                      </a:pPr>
                      <a:r>
                        <a:rPr lang="en-US" sz="700"/>
                        <a:t>Cron, REST API, OAuth/JWT</a:t>
                      </a:r>
                    </a:p>
                  </a:txBody>
                  <a:tcPr marL="17267" marR="17267" marT="8634" marB="8634" anchor="ctr">
                    <a:lnL>
                      <a:noFill/>
                    </a:lnL>
                    <a:lnR>
                      <a:noFill/>
                    </a:lnR>
                    <a:lnT>
                      <a:noFill/>
                    </a:lnT>
                    <a:lnB>
                      <a:noFill/>
                    </a:lnB>
                    <a:noFill/>
                  </a:tcPr>
                </a:tc>
                <a:tc>
                  <a:txBody>
                    <a:bodyPr/>
                    <a:lstStyle/>
                    <a:p>
                      <a:pPr>
                        <a:buNone/>
                      </a:pPr>
                      <a:r>
                        <a:rPr lang="es-MX" sz="700"/>
                        <a:t>4</a:t>
                      </a:r>
                    </a:p>
                  </a:txBody>
                  <a:tcPr marL="17267" marR="17267" marT="8634" marB="8634" anchor="ctr">
                    <a:lnL>
                      <a:noFill/>
                    </a:lnL>
                    <a:lnR>
                      <a:noFill/>
                    </a:lnR>
                    <a:lnT>
                      <a:noFill/>
                    </a:lnT>
                    <a:lnB>
                      <a:noFill/>
                    </a:lnB>
                    <a:noFill/>
                  </a:tcPr>
                </a:tc>
                <a:tc>
                  <a:txBody>
                    <a:bodyPr/>
                    <a:lstStyle/>
                    <a:p>
                      <a:pPr>
                        <a:buNone/>
                      </a:pPr>
                      <a:r>
                        <a:rPr lang="es-MX" sz="700"/>
                        <a:t>7</a:t>
                      </a:r>
                    </a:p>
                  </a:txBody>
                  <a:tcPr marL="17267" marR="17267" marT="8634" marB="8634" anchor="ctr">
                    <a:lnL>
                      <a:noFill/>
                    </a:lnL>
                    <a:lnR>
                      <a:noFill/>
                    </a:lnR>
                    <a:lnT>
                      <a:noFill/>
                    </a:lnT>
                    <a:lnB>
                      <a:noFill/>
                    </a:lnB>
                    <a:noFill/>
                  </a:tcPr>
                </a:tc>
                <a:tc>
                  <a:txBody>
                    <a:bodyPr/>
                    <a:lstStyle/>
                    <a:p>
                      <a:pPr>
                        <a:buNone/>
                      </a:pPr>
                      <a:r>
                        <a:rPr lang="es-MX" sz="700"/>
                        <a:t>4</a:t>
                      </a:r>
                    </a:p>
                  </a:txBody>
                  <a:tcPr marL="17267" marR="17267" marT="8634" marB="8634" anchor="ctr">
                    <a:lnL>
                      <a:noFill/>
                    </a:lnL>
                    <a:lnR>
                      <a:noFill/>
                    </a:lnR>
                    <a:lnT>
                      <a:noFill/>
                    </a:lnT>
                    <a:lnB>
                      <a:noFill/>
                    </a:lnB>
                    <a:noFill/>
                  </a:tcPr>
                </a:tc>
                <a:tc>
                  <a:txBody>
                    <a:bodyPr/>
                    <a:lstStyle/>
                    <a:p>
                      <a:pPr>
                        <a:buNone/>
                      </a:pPr>
                      <a:r>
                        <a:rPr lang="es-MX" sz="700"/>
                        <a:t>3</a:t>
                      </a:r>
                    </a:p>
                  </a:txBody>
                  <a:tcPr marL="17267" marR="17267" marT="8634" marB="8634" anchor="ctr">
                    <a:lnL>
                      <a:noFill/>
                    </a:lnL>
                    <a:lnR>
                      <a:noFill/>
                    </a:lnR>
                    <a:lnT>
                      <a:noFill/>
                    </a:lnT>
                    <a:lnB>
                      <a:noFill/>
                    </a:lnB>
                    <a:noFill/>
                  </a:tcPr>
                </a:tc>
                <a:tc>
                  <a:txBody>
                    <a:bodyPr/>
                    <a:lstStyle/>
                    <a:p>
                      <a:pPr>
                        <a:buNone/>
                      </a:pPr>
                      <a:r>
                        <a:rPr lang="es-MX" sz="700"/>
                        <a:t>6</a:t>
                      </a:r>
                    </a:p>
                  </a:txBody>
                  <a:tcPr marL="17267" marR="17267" marT="8634" marB="8634" anchor="ctr">
                    <a:lnL>
                      <a:noFill/>
                    </a:lnL>
                    <a:lnR>
                      <a:noFill/>
                    </a:lnR>
                    <a:lnT>
                      <a:noFill/>
                    </a:lnT>
                    <a:lnB>
                      <a:noFill/>
                    </a:lnB>
                    <a:noFill/>
                  </a:tcPr>
                </a:tc>
                <a:tc>
                  <a:txBody>
                    <a:bodyPr/>
                    <a:lstStyle/>
                    <a:p>
                      <a:pPr>
                        <a:buNone/>
                      </a:pPr>
                      <a:r>
                        <a:rPr lang="es-MX" sz="700" b="1"/>
                        <a:t>5/10</a:t>
                      </a:r>
                      <a:endParaRPr lang="es-MX" sz="700"/>
                    </a:p>
                  </a:txBody>
                  <a:tcPr marL="17267" marR="17267" marT="8634" marB="8634" anchor="ctr">
                    <a:lnL>
                      <a:noFill/>
                    </a:lnL>
                    <a:lnR>
                      <a:noFill/>
                    </a:lnR>
                    <a:lnT>
                      <a:noFill/>
                    </a:lnT>
                    <a:lnB>
                      <a:noFill/>
                    </a:lnB>
                    <a:noFill/>
                  </a:tcPr>
                </a:tc>
                <a:extLst>
                  <a:ext uri="{0D108BD9-81ED-4DB2-BD59-A6C34878D82A}">
                    <a16:rowId xmlns:a16="http://schemas.microsoft.com/office/drawing/2014/main" val="3567777182"/>
                  </a:ext>
                </a:extLst>
              </a:tr>
              <a:tr h="1477849">
                <a:tc>
                  <a:txBody>
                    <a:bodyPr/>
                    <a:lstStyle/>
                    <a:p>
                      <a:pPr>
                        <a:buNone/>
                      </a:pPr>
                      <a:r>
                        <a:rPr lang="es-MX" sz="700" b="1"/>
                        <a:t>2</a:t>
                      </a:r>
                      <a:endParaRPr lang="es-MX" sz="700"/>
                    </a:p>
                  </a:txBody>
                  <a:tcPr marL="17267" marR="17267" marT="8634" marB="8634" anchor="ctr">
                    <a:lnL>
                      <a:noFill/>
                    </a:lnL>
                    <a:lnR>
                      <a:noFill/>
                    </a:lnR>
                    <a:lnT>
                      <a:noFill/>
                    </a:lnT>
                    <a:lnB>
                      <a:noFill/>
                    </a:lnB>
                    <a:noFill/>
                  </a:tcPr>
                </a:tc>
                <a:tc>
                  <a:txBody>
                    <a:bodyPr/>
                    <a:lstStyle/>
                    <a:p>
                      <a:pPr>
                        <a:buNone/>
                      </a:pPr>
                      <a:r>
                        <a:rPr lang="es-MX" sz="700" b="1"/>
                        <a:t>Pull event-driven (Queue / Pub-Sub)</a:t>
                      </a:r>
                      <a:endParaRPr lang="es-MX" sz="700"/>
                    </a:p>
                  </a:txBody>
                  <a:tcPr marL="17267" marR="17267" marT="8634" marB="8634" anchor="ctr">
                    <a:lnL>
                      <a:noFill/>
                    </a:lnL>
                    <a:lnR>
                      <a:noFill/>
                    </a:lnR>
                    <a:lnT>
                      <a:noFill/>
                    </a:lnT>
                    <a:lnB>
                      <a:noFill/>
                    </a:lnB>
                    <a:noFill/>
                  </a:tcPr>
                </a:tc>
                <a:tc>
                  <a:txBody>
                    <a:bodyPr/>
                    <a:lstStyle/>
                    <a:p>
                      <a:pPr>
                        <a:buNone/>
                      </a:pPr>
                      <a:r>
                        <a:rPr lang="es-ES" sz="700"/>
                        <a:t>El servidor publica eventos de cambio; los clientes hacen long-polling o suscripción y luego consumen APIs</a:t>
                      </a:r>
                    </a:p>
                  </a:txBody>
                  <a:tcPr marL="17267" marR="17267" marT="8634" marB="8634" anchor="ctr">
                    <a:lnL>
                      <a:noFill/>
                    </a:lnL>
                    <a:lnR>
                      <a:noFill/>
                    </a:lnR>
                    <a:lnT>
                      <a:noFill/>
                    </a:lnT>
                    <a:lnB>
                      <a:noFill/>
                    </a:lnB>
                    <a:noFill/>
                  </a:tcPr>
                </a:tc>
                <a:tc>
                  <a:txBody>
                    <a:bodyPr/>
                    <a:lstStyle/>
                    <a:p>
                      <a:pPr>
                        <a:buNone/>
                      </a:pPr>
                      <a:r>
                        <a:rPr lang="es-MX" sz="700"/>
                        <a:t>Near-real-time, eficiente, desacoplado, tolerante a fallos</a:t>
                      </a:r>
                    </a:p>
                  </a:txBody>
                  <a:tcPr marL="17267" marR="17267" marT="8634" marB="8634" anchor="ctr">
                    <a:lnL>
                      <a:noFill/>
                    </a:lnL>
                    <a:lnR>
                      <a:noFill/>
                    </a:lnR>
                    <a:lnT>
                      <a:noFill/>
                    </a:lnT>
                    <a:lnB>
                      <a:noFill/>
                    </a:lnB>
                    <a:noFill/>
                  </a:tcPr>
                </a:tc>
                <a:tc>
                  <a:txBody>
                    <a:bodyPr/>
                    <a:lstStyle/>
                    <a:p>
                      <a:pPr>
                        <a:buNone/>
                      </a:pPr>
                      <a:r>
                        <a:rPr lang="es-ES" sz="700"/>
                        <a:t>Requiere infraestructura de mensajería y manejo de offsets</a:t>
                      </a:r>
                    </a:p>
                  </a:txBody>
                  <a:tcPr marL="17267" marR="17267" marT="8634" marB="8634" anchor="ctr">
                    <a:lnL>
                      <a:noFill/>
                    </a:lnL>
                    <a:lnR>
                      <a:noFill/>
                    </a:lnR>
                    <a:lnT>
                      <a:noFill/>
                    </a:lnT>
                    <a:lnB>
                      <a:noFill/>
                    </a:lnB>
                    <a:noFill/>
                  </a:tcPr>
                </a:tc>
                <a:tc>
                  <a:txBody>
                    <a:bodyPr/>
                    <a:lstStyle/>
                    <a:p>
                      <a:pPr>
                        <a:buNone/>
                      </a:pPr>
                      <a:r>
                        <a:rPr lang="es-MX" sz="700"/>
                        <a:t>AWS SQS/SNS, Azure Service Bus, Kafka, RabbitMQ</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6</a:t>
                      </a:r>
                    </a:p>
                  </a:txBody>
                  <a:tcPr marL="17267" marR="17267" marT="8634" marB="8634" anchor="ctr">
                    <a:lnL>
                      <a:noFill/>
                    </a:lnL>
                    <a:lnR>
                      <a:noFill/>
                    </a:lnR>
                    <a:lnT>
                      <a:noFill/>
                    </a:lnT>
                    <a:lnB>
                      <a:noFill/>
                    </a:lnB>
                    <a:noFill/>
                  </a:tcPr>
                </a:tc>
                <a:tc>
                  <a:txBody>
                    <a:bodyPr/>
                    <a:lstStyle/>
                    <a:p>
                      <a:pPr>
                        <a:buNone/>
                      </a:pPr>
                      <a:r>
                        <a:rPr lang="es-MX" sz="700"/>
                        <a:t>8</a:t>
                      </a:r>
                    </a:p>
                  </a:txBody>
                  <a:tcPr marL="17267" marR="17267" marT="8634" marB="8634" anchor="ctr">
                    <a:lnL>
                      <a:noFill/>
                    </a:lnL>
                    <a:lnR>
                      <a:noFill/>
                    </a:lnR>
                    <a:lnT>
                      <a:noFill/>
                    </a:lnT>
                    <a:lnB>
                      <a:noFill/>
                    </a:lnB>
                    <a:noFill/>
                  </a:tcPr>
                </a:tc>
                <a:tc>
                  <a:txBody>
                    <a:bodyPr/>
                    <a:lstStyle/>
                    <a:p>
                      <a:pPr>
                        <a:buNone/>
                      </a:pPr>
                      <a:r>
                        <a:rPr lang="es-MX" sz="700" b="1" dirty="0"/>
                        <a:t>9/10</a:t>
                      </a:r>
                      <a:endParaRPr lang="es-MX" sz="700" dirty="0"/>
                    </a:p>
                  </a:txBody>
                  <a:tcPr marL="17267" marR="17267" marT="8634" marB="8634" anchor="ctr">
                    <a:lnL>
                      <a:noFill/>
                    </a:lnL>
                    <a:lnR>
                      <a:noFill/>
                    </a:lnR>
                    <a:lnT>
                      <a:noFill/>
                    </a:lnT>
                    <a:lnB>
                      <a:noFill/>
                    </a:lnB>
                    <a:noFill/>
                  </a:tcPr>
                </a:tc>
                <a:extLst>
                  <a:ext uri="{0D108BD9-81ED-4DB2-BD59-A6C34878D82A}">
                    <a16:rowId xmlns:a16="http://schemas.microsoft.com/office/drawing/2014/main" val="3283808339"/>
                  </a:ext>
                </a:extLst>
              </a:tr>
              <a:tr h="992929">
                <a:tc>
                  <a:txBody>
                    <a:bodyPr/>
                    <a:lstStyle/>
                    <a:p>
                      <a:pPr>
                        <a:buNone/>
                      </a:pPr>
                      <a:r>
                        <a:rPr lang="es-MX" sz="700" b="1"/>
                        <a:t>3</a:t>
                      </a:r>
                      <a:endParaRPr lang="es-MX" sz="700"/>
                    </a:p>
                  </a:txBody>
                  <a:tcPr marL="17267" marR="17267" marT="8634" marB="8634" anchor="ctr">
                    <a:lnL>
                      <a:noFill/>
                    </a:lnL>
                    <a:lnR>
                      <a:noFill/>
                    </a:lnR>
                    <a:lnT>
                      <a:noFill/>
                    </a:lnT>
                    <a:lnB>
                      <a:noFill/>
                    </a:lnB>
                    <a:noFill/>
                  </a:tcPr>
                </a:tc>
                <a:tc>
                  <a:txBody>
                    <a:bodyPr/>
                    <a:lstStyle/>
                    <a:p>
                      <a:pPr>
                        <a:buNone/>
                      </a:pPr>
                      <a:r>
                        <a:rPr lang="en-US" sz="700" b="1"/>
                        <a:t>Push por Webhooks (Batch fan-out)</a:t>
                      </a:r>
                      <a:endParaRPr lang="en-US" sz="700"/>
                    </a:p>
                  </a:txBody>
                  <a:tcPr marL="17267" marR="17267" marT="8634" marB="8634" anchor="ctr">
                    <a:lnL>
                      <a:noFill/>
                    </a:lnL>
                    <a:lnR>
                      <a:noFill/>
                    </a:lnR>
                    <a:lnT>
                      <a:noFill/>
                    </a:lnT>
                    <a:lnB>
                      <a:noFill/>
                    </a:lnB>
                    <a:noFill/>
                  </a:tcPr>
                </a:tc>
                <a:tc>
                  <a:txBody>
                    <a:bodyPr/>
                    <a:lstStyle/>
                    <a:p>
                      <a:pPr>
                        <a:buNone/>
                      </a:pPr>
                      <a:r>
                        <a:rPr lang="es-ES" sz="700"/>
                        <a:t>El servidor itera clientes y envía por webhook el resumen/detalle de cambios</a:t>
                      </a:r>
                    </a:p>
                  </a:txBody>
                  <a:tcPr marL="17267" marR="17267" marT="8634" marB="8634" anchor="ctr">
                    <a:lnL>
                      <a:noFill/>
                    </a:lnL>
                    <a:lnR>
                      <a:noFill/>
                    </a:lnR>
                    <a:lnT>
                      <a:noFill/>
                    </a:lnT>
                    <a:lnB>
                      <a:noFill/>
                    </a:lnB>
                    <a:noFill/>
                  </a:tcPr>
                </a:tc>
                <a:tc>
                  <a:txBody>
                    <a:bodyPr/>
                    <a:lstStyle/>
                    <a:p>
                      <a:pPr>
                        <a:buNone/>
                      </a:pPr>
                      <a:r>
                        <a:rPr lang="es-MX" sz="700"/>
                        <a:t>Inmediato, sin polling, payload completo</a:t>
                      </a:r>
                    </a:p>
                  </a:txBody>
                  <a:tcPr marL="17267" marR="17267" marT="8634" marB="8634" anchor="ctr">
                    <a:lnL>
                      <a:noFill/>
                    </a:lnL>
                    <a:lnR>
                      <a:noFill/>
                    </a:lnR>
                    <a:lnT>
                      <a:noFill/>
                    </a:lnT>
                    <a:lnB>
                      <a:noFill/>
                    </a:lnB>
                    <a:noFill/>
                  </a:tcPr>
                </a:tc>
                <a:tc>
                  <a:txBody>
                    <a:bodyPr/>
                    <a:lstStyle/>
                    <a:p>
                      <a:pPr>
                        <a:buNone/>
                      </a:pPr>
                      <a:r>
                        <a:rPr lang="es-MX" sz="700"/>
                        <a:t>Frágil ante clientes offline, retries complejos, escalado difícil</a:t>
                      </a:r>
                    </a:p>
                  </a:txBody>
                  <a:tcPr marL="17267" marR="17267" marT="8634" marB="8634" anchor="ctr">
                    <a:lnL>
                      <a:noFill/>
                    </a:lnL>
                    <a:lnR>
                      <a:noFill/>
                    </a:lnR>
                    <a:lnT>
                      <a:noFill/>
                    </a:lnT>
                    <a:lnB>
                      <a:noFill/>
                    </a:lnB>
                    <a:noFill/>
                  </a:tcPr>
                </a:tc>
                <a:tc>
                  <a:txBody>
                    <a:bodyPr/>
                    <a:lstStyle/>
                    <a:p>
                      <a:pPr>
                        <a:buNone/>
                      </a:pPr>
                      <a:r>
                        <a:rPr lang="en-US" sz="700"/>
                        <a:t>Webhooks REST, Retry queues, Dead Letter Queue</a:t>
                      </a:r>
                    </a:p>
                  </a:txBody>
                  <a:tcPr marL="17267" marR="17267" marT="8634" marB="8634" anchor="ctr">
                    <a:lnL>
                      <a:noFill/>
                    </a:lnL>
                    <a:lnR>
                      <a:noFill/>
                    </a:lnR>
                    <a:lnT>
                      <a:noFill/>
                    </a:lnT>
                    <a:lnB>
                      <a:noFill/>
                    </a:lnB>
                    <a:noFill/>
                  </a:tcPr>
                </a:tc>
                <a:tc>
                  <a:txBody>
                    <a:bodyPr/>
                    <a:lstStyle/>
                    <a:p>
                      <a:pPr>
                        <a:buNone/>
                      </a:pPr>
                      <a:r>
                        <a:rPr lang="es-MX" sz="700"/>
                        <a:t>8</a:t>
                      </a:r>
                    </a:p>
                  </a:txBody>
                  <a:tcPr marL="17267" marR="17267" marT="8634" marB="8634" anchor="ctr">
                    <a:lnL>
                      <a:noFill/>
                    </a:lnL>
                    <a:lnR>
                      <a:noFill/>
                    </a:lnR>
                    <a:lnT>
                      <a:noFill/>
                    </a:lnT>
                    <a:lnB>
                      <a:noFill/>
                    </a:lnB>
                    <a:noFill/>
                  </a:tcPr>
                </a:tc>
                <a:tc>
                  <a:txBody>
                    <a:bodyPr/>
                    <a:lstStyle/>
                    <a:p>
                      <a:pPr>
                        <a:buNone/>
                      </a:pPr>
                      <a:r>
                        <a:rPr lang="es-MX" sz="700"/>
                        <a:t>5</a:t>
                      </a:r>
                    </a:p>
                  </a:txBody>
                  <a:tcPr marL="17267" marR="17267" marT="8634" marB="8634" anchor="ctr">
                    <a:lnL>
                      <a:noFill/>
                    </a:lnL>
                    <a:lnR>
                      <a:noFill/>
                    </a:lnR>
                    <a:lnT>
                      <a:noFill/>
                    </a:lnT>
                    <a:lnB>
                      <a:noFill/>
                    </a:lnB>
                    <a:noFill/>
                  </a:tcPr>
                </a:tc>
                <a:tc>
                  <a:txBody>
                    <a:bodyPr/>
                    <a:lstStyle/>
                    <a:p>
                      <a:pPr>
                        <a:buNone/>
                      </a:pPr>
                      <a:r>
                        <a:rPr lang="es-MX" sz="700"/>
                        <a:t>4</a:t>
                      </a:r>
                    </a:p>
                  </a:txBody>
                  <a:tcPr marL="17267" marR="17267" marT="8634" marB="8634" anchor="ctr">
                    <a:lnL>
                      <a:noFill/>
                    </a:lnL>
                    <a:lnR>
                      <a:noFill/>
                    </a:lnR>
                    <a:lnT>
                      <a:noFill/>
                    </a:lnT>
                    <a:lnB>
                      <a:noFill/>
                    </a:lnB>
                    <a:noFill/>
                  </a:tcPr>
                </a:tc>
                <a:tc>
                  <a:txBody>
                    <a:bodyPr/>
                    <a:lstStyle/>
                    <a:p>
                      <a:pPr>
                        <a:buNone/>
                      </a:pPr>
                      <a:r>
                        <a:rPr lang="es-MX" sz="700"/>
                        <a:t>8</a:t>
                      </a:r>
                    </a:p>
                  </a:txBody>
                  <a:tcPr marL="17267" marR="17267" marT="8634" marB="8634" anchor="ctr">
                    <a:lnL>
                      <a:noFill/>
                    </a:lnL>
                    <a:lnR>
                      <a:noFill/>
                    </a:lnR>
                    <a:lnT>
                      <a:noFill/>
                    </a:lnT>
                    <a:lnB>
                      <a:noFill/>
                    </a:lnB>
                    <a:noFill/>
                  </a:tcPr>
                </a:tc>
                <a:tc>
                  <a:txBody>
                    <a:bodyPr/>
                    <a:lstStyle/>
                    <a:p>
                      <a:pPr>
                        <a:buNone/>
                      </a:pPr>
                      <a:r>
                        <a:rPr lang="es-MX" sz="700"/>
                        <a:t>5</a:t>
                      </a:r>
                    </a:p>
                  </a:txBody>
                  <a:tcPr marL="17267" marR="17267" marT="8634" marB="8634" anchor="ctr">
                    <a:lnL>
                      <a:noFill/>
                    </a:lnL>
                    <a:lnR>
                      <a:noFill/>
                    </a:lnR>
                    <a:lnT>
                      <a:noFill/>
                    </a:lnT>
                    <a:lnB>
                      <a:noFill/>
                    </a:lnB>
                    <a:noFill/>
                  </a:tcPr>
                </a:tc>
                <a:tc>
                  <a:txBody>
                    <a:bodyPr/>
                    <a:lstStyle/>
                    <a:p>
                      <a:pPr>
                        <a:buNone/>
                      </a:pPr>
                      <a:r>
                        <a:rPr lang="es-MX" sz="700" b="1"/>
                        <a:t>6/10</a:t>
                      </a:r>
                      <a:endParaRPr lang="es-MX" sz="700"/>
                    </a:p>
                  </a:txBody>
                  <a:tcPr marL="17267" marR="17267" marT="8634" marB="8634" anchor="ctr">
                    <a:lnL>
                      <a:noFill/>
                    </a:lnL>
                    <a:lnR>
                      <a:noFill/>
                    </a:lnR>
                    <a:lnT>
                      <a:noFill/>
                    </a:lnT>
                    <a:lnB>
                      <a:noFill/>
                    </a:lnB>
                    <a:noFill/>
                  </a:tcPr>
                </a:tc>
                <a:extLst>
                  <a:ext uri="{0D108BD9-81ED-4DB2-BD59-A6C34878D82A}">
                    <a16:rowId xmlns:a16="http://schemas.microsoft.com/office/drawing/2014/main" val="3250255027"/>
                  </a:ext>
                </a:extLst>
              </a:tr>
              <a:tr h="923656">
                <a:tc>
                  <a:txBody>
                    <a:bodyPr/>
                    <a:lstStyle/>
                    <a:p>
                      <a:pPr>
                        <a:buNone/>
                      </a:pPr>
                      <a:r>
                        <a:rPr lang="es-MX" sz="700" b="1"/>
                        <a:t>4</a:t>
                      </a:r>
                      <a:endParaRPr lang="es-MX" sz="700"/>
                    </a:p>
                  </a:txBody>
                  <a:tcPr marL="17267" marR="17267" marT="8634" marB="8634" anchor="ctr">
                    <a:lnL>
                      <a:noFill/>
                    </a:lnL>
                    <a:lnR>
                      <a:noFill/>
                    </a:lnR>
                    <a:lnT>
                      <a:noFill/>
                    </a:lnT>
                    <a:lnB>
                      <a:noFill/>
                    </a:lnB>
                    <a:noFill/>
                  </a:tcPr>
                </a:tc>
                <a:tc>
                  <a:txBody>
                    <a:bodyPr/>
                    <a:lstStyle/>
                    <a:p>
                      <a:pPr>
                        <a:buNone/>
                      </a:pPr>
                      <a:r>
                        <a:rPr lang="es-MX" sz="700" b="1"/>
                        <a:t>Híbrido: Event + Pull (Recommended)</a:t>
                      </a:r>
                      <a:endParaRPr lang="es-MX" sz="700"/>
                    </a:p>
                  </a:txBody>
                  <a:tcPr marL="17267" marR="17267" marT="8634" marB="8634" anchor="ctr">
                    <a:lnL>
                      <a:noFill/>
                    </a:lnL>
                    <a:lnR>
                      <a:noFill/>
                    </a:lnR>
                    <a:lnT>
                      <a:noFill/>
                    </a:lnT>
                    <a:lnB>
                      <a:noFill/>
                    </a:lnB>
                    <a:noFill/>
                  </a:tcPr>
                </a:tc>
                <a:tc>
                  <a:txBody>
                    <a:bodyPr/>
                    <a:lstStyle/>
                    <a:p>
                      <a:pPr>
                        <a:buNone/>
                      </a:pPr>
                      <a:r>
                        <a:rPr lang="es-ES" sz="700"/>
                        <a:t>Evento notifica cambio y el cliente hace pull del detalle bajo demanda</a:t>
                      </a:r>
                    </a:p>
                  </a:txBody>
                  <a:tcPr marL="17267" marR="17267" marT="8634" marB="8634" anchor="ctr">
                    <a:lnL>
                      <a:noFill/>
                    </a:lnL>
                    <a:lnR>
                      <a:noFill/>
                    </a:lnR>
                    <a:lnT>
                      <a:noFill/>
                    </a:lnT>
                    <a:lnB>
                      <a:noFill/>
                    </a:lnB>
                    <a:noFill/>
                  </a:tcPr>
                </a:tc>
                <a:tc>
                  <a:txBody>
                    <a:bodyPr/>
                    <a:lstStyle/>
                    <a:p>
                      <a:pPr>
                        <a:buNone/>
                      </a:pPr>
                      <a:r>
                        <a:rPr lang="es-ES" sz="700"/>
                        <a:t>Alta resiliencia, bajo acoplamiento, escalable, control del cliente</a:t>
                      </a:r>
                    </a:p>
                  </a:txBody>
                  <a:tcPr marL="17267" marR="17267" marT="8634" marB="8634" anchor="ctr">
                    <a:lnL>
                      <a:noFill/>
                    </a:lnL>
                    <a:lnR>
                      <a:noFill/>
                    </a:lnR>
                    <a:lnT>
                      <a:noFill/>
                    </a:lnT>
                    <a:lnB>
                      <a:noFill/>
                    </a:lnB>
                    <a:noFill/>
                  </a:tcPr>
                </a:tc>
                <a:tc>
                  <a:txBody>
                    <a:bodyPr/>
                    <a:lstStyle/>
                    <a:p>
                      <a:pPr>
                        <a:buNone/>
                      </a:pPr>
                      <a:r>
                        <a:rPr lang="es-ES" sz="700"/>
                        <a:t>Más componentes, diseño inicial más complejo</a:t>
                      </a:r>
                    </a:p>
                  </a:txBody>
                  <a:tcPr marL="17267" marR="17267" marT="8634" marB="8634" anchor="ctr">
                    <a:lnL>
                      <a:noFill/>
                    </a:lnL>
                    <a:lnR>
                      <a:noFill/>
                    </a:lnR>
                    <a:lnT>
                      <a:noFill/>
                    </a:lnT>
                    <a:lnB>
                      <a:noFill/>
                    </a:lnB>
                    <a:noFill/>
                  </a:tcPr>
                </a:tc>
                <a:tc>
                  <a:txBody>
                    <a:bodyPr/>
                    <a:lstStyle/>
                    <a:p>
                      <a:pPr>
                        <a:buNone/>
                      </a:pPr>
                      <a:r>
                        <a:rPr lang="en-US" sz="700"/>
                        <a:t>SQS/SNS + REST APIs + Cron fallback</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7</a:t>
                      </a:r>
                    </a:p>
                  </a:txBody>
                  <a:tcPr marL="17267" marR="17267" marT="8634" marB="8634" anchor="ctr">
                    <a:lnL>
                      <a:noFill/>
                    </a:lnL>
                    <a:lnR>
                      <a:noFill/>
                    </a:lnR>
                    <a:lnT>
                      <a:noFill/>
                    </a:lnT>
                    <a:lnB>
                      <a:noFill/>
                    </a:lnB>
                    <a:noFill/>
                  </a:tcPr>
                </a:tc>
                <a:tc>
                  <a:txBody>
                    <a:bodyPr/>
                    <a:lstStyle/>
                    <a:p>
                      <a:pPr>
                        <a:buNone/>
                      </a:pPr>
                      <a:r>
                        <a:rPr lang="es-MX" sz="700"/>
                        <a:t>8</a:t>
                      </a:r>
                    </a:p>
                  </a:txBody>
                  <a:tcPr marL="17267" marR="17267" marT="8634" marB="8634" anchor="ctr">
                    <a:lnL>
                      <a:noFill/>
                    </a:lnL>
                    <a:lnR>
                      <a:noFill/>
                    </a:lnR>
                    <a:lnT>
                      <a:noFill/>
                    </a:lnT>
                    <a:lnB>
                      <a:noFill/>
                    </a:lnB>
                    <a:noFill/>
                  </a:tcPr>
                </a:tc>
                <a:tc>
                  <a:txBody>
                    <a:bodyPr/>
                    <a:lstStyle/>
                    <a:p>
                      <a:pPr>
                        <a:buNone/>
                      </a:pPr>
                      <a:r>
                        <a:rPr lang="es-MX" sz="700" b="1"/>
                        <a:t>10/10</a:t>
                      </a:r>
                      <a:endParaRPr lang="es-MX" sz="700"/>
                    </a:p>
                  </a:txBody>
                  <a:tcPr marL="17267" marR="17267" marT="8634" marB="8634" anchor="ctr">
                    <a:lnL>
                      <a:noFill/>
                    </a:lnL>
                    <a:lnR>
                      <a:noFill/>
                    </a:lnR>
                    <a:lnT>
                      <a:noFill/>
                    </a:lnT>
                    <a:lnB>
                      <a:noFill/>
                    </a:lnB>
                    <a:noFill/>
                  </a:tcPr>
                </a:tc>
                <a:extLst>
                  <a:ext uri="{0D108BD9-81ED-4DB2-BD59-A6C34878D82A}">
                    <a16:rowId xmlns:a16="http://schemas.microsoft.com/office/drawing/2014/main" val="551205623"/>
                  </a:ext>
                </a:extLst>
              </a:tr>
              <a:tr h="854381">
                <a:tc>
                  <a:txBody>
                    <a:bodyPr/>
                    <a:lstStyle/>
                    <a:p>
                      <a:pPr>
                        <a:buNone/>
                      </a:pPr>
                      <a:r>
                        <a:rPr lang="es-MX" sz="700" b="1"/>
                        <a:t>5</a:t>
                      </a:r>
                      <a:endParaRPr lang="es-MX" sz="700"/>
                    </a:p>
                  </a:txBody>
                  <a:tcPr marL="17267" marR="17267" marT="8634" marB="8634" anchor="ctr">
                    <a:lnL>
                      <a:noFill/>
                    </a:lnL>
                    <a:lnR>
                      <a:noFill/>
                    </a:lnR>
                    <a:lnT>
                      <a:noFill/>
                    </a:lnT>
                    <a:lnB>
                      <a:noFill/>
                    </a:lnB>
                    <a:noFill/>
                  </a:tcPr>
                </a:tc>
                <a:tc>
                  <a:txBody>
                    <a:bodyPr/>
                    <a:lstStyle/>
                    <a:p>
                      <a:pPr>
                        <a:buNone/>
                      </a:pPr>
                      <a:r>
                        <a:rPr lang="es-MX" sz="700" b="1"/>
                        <a:t>Data Replication / CDC</a:t>
                      </a:r>
                      <a:endParaRPr lang="es-MX" sz="700"/>
                    </a:p>
                  </a:txBody>
                  <a:tcPr marL="17267" marR="17267" marT="8634" marB="8634" anchor="ctr">
                    <a:lnL>
                      <a:noFill/>
                    </a:lnL>
                    <a:lnR>
                      <a:noFill/>
                    </a:lnR>
                    <a:lnT>
                      <a:noFill/>
                    </a:lnT>
                    <a:lnB>
                      <a:noFill/>
                    </a:lnB>
                    <a:noFill/>
                  </a:tcPr>
                </a:tc>
                <a:tc>
                  <a:txBody>
                    <a:bodyPr/>
                    <a:lstStyle/>
                    <a:p>
                      <a:pPr>
                        <a:buNone/>
                      </a:pPr>
                      <a:r>
                        <a:rPr lang="es-ES" sz="700"/>
                        <a:t>Replicación automática de cambios de BD central hacia clientes</a:t>
                      </a:r>
                    </a:p>
                  </a:txBody>
                  <a:tcPr marL="17267" marR="17267" marT="8634" marB="8634" anchor="ctr">
                    <a:lnL>
                      <a:noFill/>
                    </a:lnL>
                    <a:lnR>
                      <a:noFill/>
                    </a:lnR>
                    <a:lnT>
                      <a:noFill/>
                    </a:lnT>
                    <a:lnB>
                      <a:noFill/>
                    </a:lnB>
                    <a:noFill/>
                  </a:tcPr>
                </a:tc>
                <a:tc>
                  <a:txBody>
                    <a:bodyPr/>
                    <a:lstStyle/>
                    <a:p>
                      <a:pPr>
                        <a:buNone/>
                      </a:pPr>
                      <a:r>
                        <a:rPr lang="es-ES" sz="700"/>
                        <a:t>Muy rápido, consistente, sin lógica de negocio</a:t>
                      </a:r>
                    </a:p>
                  </a:txBody>
                  <a:tcPr marL="17267" marR="17267" marT="8634" marB="8634" anchor="ctr">
                    <a:lnL>
                      <a:noFill/>
                    </a:lnL>
                    <a:lnR>
                      <a:noFill/>
                    </a:lnR>
                    <a:lnT>
                      <a:noFill/>
                    </a:lnT>
                    <a:lnB>
                      <a:noFill/>
                    </a:lnB>
                    <a:noFill/>
                  </a:tcPr>
                </a:tc>
                <a:tc>
                  <a:txBody>
                    <a:bodyPr/>
                    <a:lstStyle/>
                    <a:p>
                      <a:pPr>
                        <a:buNone/>
                      </a:pPr>
                      <a:r>
                        <a:rPr lang="es-ES" sz="700"/>
                        <a:t>Complejo, acoplamiento fuerte, poco flexible</a:t>
                      </a:r>
                    </a:p>
                  </a:txBody>
                  <a:tcPr marL="17267" marR="17267" marT="8634" marB="8634" anchor="ctr">
                    <a:lnL>
                      <a:noFill/>
                    </a:lnL>
                    <a:lnR>
                      <a:noFill/>
                    </a:lnR>
                    <a:lnT>
                      <a:noFill/>
                    </a:lnT>
                    <a:lnB>
                      <a:noFill/>
                    </a:lnB>
                    <a:noFill/>
                  </a:tcPr>
                </a:tc>
                <a:tc>
                  <a:txBody>
                    <a:bodyPr/>
                    <a:lstStyle/>
                    <a:p>
                      <a:pPr>
                        <a:buNone/>
                      </a:pPr>
                      <a:r>
                        <a:rPr lang="es-MX" sz="700"/>
                        <a:t>Debezium, AWS DMS, Azure Data Sync</a:t>
                      </a:r>
                    </a:p>
                  </a:txBody>
                  <a:tcPr marL="17267" marR="17267" marT="8634" marB="8634" anchor="ctr">
                    <a:lnL>
                      <a:noFill/>
                    </a:lnL>
                    <a:lnR>
                      <a:noFill/>
                    </a:lnR>
                    <a:lnT>
                      <a:noFill/>
                    </a:lnT>
                    <a:lnB>
                      <a:noFill/>
                    </a:lnB>
                    <a:noFill/>
                  </a:tcPr>
                </a:tc>
                <a:tc>
                  <a:txBody>
                    <a:bodyPr/>
                    <a:lstStyle/>
                    <a:p>
                      <a:pPr>
                        <a:buNone/>
                      </a:pPr>
                      <a:r>
                        <a:rPr lang="es-MX" sz="700"/>
                        <a:t>10</a:t>
                      </a:r>
                    </a:p>
                  </a:txBody>
                  <a:tcPr marL="17267" marR="17267" marT="8634" marB="8634" anchor="ctr">
                    <a:lnL>
                      <a:noFill/>
                    </a:lnL>
                    <a:lnR>
                      <a:noFill/>
                    </a:lnR>
                    <a:lnT>
                      <a:noFill/>
                    </a:lnT>
                    <a:lnB>
                      <a:noFill/>
                    </a:lnB>
                    <a:noFill/>
                  </a:tcPr>
                </a:tc>
                <a:tc>
                  <a:txBody>
                    <a:bodyPr/>
                    <a:lstStyle/>
                    <a:p>
                      <a:pPr>
                        <a:buNone/>
                      </a:pPr>
                      <a:r>
                        <a:rPr lang="es-MX" sz="700"/>
                        <a:t>8</a:t>
                      </a:r>
                    </a:p>
                  </a:txBody>
                  <a:tcPr marL="17267" marR="17267" marT="8634" marB="8634" anchor="ctr">
                    <a:lnL>
                      <a:noFill/>
                    </a:lnL>
                    <a:lnR>
                      <a:noFill/>
                    </a:lnR>
                    <a:lnT>
                      <a:noFill/>
                    </a:lnT>
                    <a:lnB>
                      <a:noFill/>
                    </a:lnB>
                    <a:noFill/>
                  </a:tcPr>
                </a:tc>
                <a:tc>
                  <a:txBody>
                    <a:bodyPr/>
                    <a:lstStyle/>
                    <a:p>
                      <a:pPr>
                        <a:buNone/>
                      </a:pPr>
                      <a:r>
                        <a:rPr lang="es-MX" sz="700"/>
                        <a:t>6</a:t>
                      </a:r>
                    </a:p>
                  </a:txBody>
                  <a:tcPr marL="17267" marR="17267" marT="8634" marB="8634" anchor="ctr">
                    <a:lnL>
                      <a:noFill/>
                    </a:lnL>
                    <a:lnR>
                      <a:noFill/>
                    </a:lnR>
                    <a:lnT>
                      <a:noFill/>
                    </a:lnT>
                    <a:lnB>
                      <a:noFill/>
                    </a:lnB>
                    <a:noFill/>
                  </a:tcPr>
                </a:tc>
                <a:tc>
                  <a:txBody>
                    <a:bodyPr/>
                    <a:lstStyle/>
                    <a:p>
                      <a:pPr>
                        <a:buNone/>
                      </a:pPr>
                      <a:r>
                        <a:rPr lang="es-MX" sz="700"/>
                        <a:t>9</a:t>
                      </a:r>
                    </a:p>
                  </a:txBody>
                  <a:tcPr marL="17267" marR="17267" marT="8634" marB="8634" anchor="ctr">
                    <a:lnL>
                      <a:noFill/>
                    </a:lnL>
                    <a:lnR>
                      <a:noFill/>
                    </a:lnR>
                    <a:lnT>
                      <a:noFill/>
                    </a:lnT>
                    <a:lnB>
                      <a:noFill/>
                    </a:lnB>
                    <a:noFill/>
                  </a:tcPr>
                </a:tc>
                <a:tc>
                  <a:txBody>
                    <a:bodyPr/>
                    <a:lstStyle/>
                    <a:p>
                      <a:pPr>
                        <a:buNone/>
                      </a:pPr>
                      <a:r>
                        <a:rPr lang="es-MX" sz="700"/>
                        <a:t>4</a:t>
                      </a:r>
                    </a:p>
                  </a:txBody>
                  <a:tcPr marL="17267" marR="17267" marT="8634" marB="8634" anchor="ctr">
                    <a:lnL>
                      <a:noFill/>
                    </a:lnL>
                    <a:lnR>
                      <a:noFill/>
                    </a:lnR>
                    <a:lnT>
                      <a:noFill/>
                    </a:lnT>
                    <a:lnB>
                      <a:noFill/>
                    </a:lnB>
                    <a:noFill/>
                  </a:tcPr>
                </a:tc>
                <a:tc>
                  <a:txBody>
                    <a:bodyPr/>
                    <a:lstStyle/>
                    <a:p>
                      <a:pPr>
                        <a:buNone/>
                      </a:pPr>
                      <a:r>
                        <a:rPr lang="es-MX" sz="700" b="1" dirty="0"/>
                        <a:t>6/10</a:t>
                      </a:r>
                      <a:endParaRPr lang="es-MX" sz="700" dirty="0"/>
                    </a:p>
                  </a:txBody>
                  <a:tcPr marL="17267" marR="17267" marT="8634" marB="8634" anchor="ctr">
                    <a:lnL>
                      <a:noFill/>
                    </a:lnL>
                    <a:lnR>
                      <a:noFill/>
                    </a:lnR>
                    <a:lnT>
                      <a:noFill/>
                    </a:lnT>
                    <a:lnB>
                      <a:noFill/>
                    </a:lnB>
                    <a:noFill/>
                  </a:tcPr>
                </a:tc>
                <a:extLst>
                  <a:ext uri="{0D108BD9-81ED-4DB2-BD59-A6C34878D82A}">
                    <a16:rowId xmlns:a16="http://schemas.microsoft.com/office/drawing/2014/main" val="1189071760"/>
                  </a:ext>
                </a:extLst>
              </a:tr>
            </a:tbl>
          </a:graphicData>
        </a:graphic>
      </p:graphicFrame>
    </p:spTree>
    <p:extLst>
      <p:ext uri="{BB962C8B-B14F-4D97-AF65-F5344CB8AC3E}">
        <p14:creationId xmlns:p14="http://schemas.microsoft.com/office/powerpoint/2010/main" val="937729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56BADB-86CA-E757-33BD-1F74043B0AB2}"/>
              </a:ext>
            </a:extLst>
          </p:cNvPr>
          <p:cNvPicPr>
            <a:picLocks noChangeAspect="1"/>
          </p:cNvPicPr>
          <p:nvPr/>
        </p:nvPicPr>
        <p:blipFill>
          <a:blip r:embed="rId2"/>
          <a:stretch>
            <a:fillRect/>
          </a:stretch>
        </p:blipFill>
        <p:spPr>
          <a:xfrm>
            <a:off x="53788" y="1700269"/>
            <a:ext cx="11802035" cy="3575607"/>
          </a:xfrm>
          <a:prstGeom prst="rect">
            <a:avLst/>
          </a:prstGeom>
        </p:spPr>
      </p:pic>
    </p:spTree>
    <p:extLst>
      <p:ext uri="{BB962C8B-B14F-4D97-AF65-F5344CB8AC3E}">
        <p14:creationId xmlns:p14="http://schemas.microsoft.com/office/powerpoint/2010/main" val="2091140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4BFF585-6358-98D0-338A-43A981E70CAA}"/>
              </a:ext>
            </a:extLst>
          </p:cNvPr>
          <p:cNvPicPr>
            <a:picLocks noChangeAspect="1"/>
          </p:cNvPicPr>
          <p:nvPr/>
        </p:nvPicPr>
        <p:blipFill>
          <a:blip r:embed="rId2"/>
          <a:stretch>
            <a:fillRect/>
          </a:stretch>
        </p:blipFill>
        <p:spPr>
          <a:xfrm>
            <a:off x="1276350" y="536121"/>
            <a:ext cx="8992660" cy="5524251"/>
          </a:xfrm>
          <a:prstGeom prst="rect">
            <a:avLst/>
          </a:prstGeom>
        </p:spPr>
      </p:pic>
      <p:sp>
        <p:nvSpPr>
          <p:cNvPr id="6" name="CuadroTexto 5">
            <a:extLst>
              <a:ext uri="{FF2B5EF4-FFF2-40B4-BE49-F238E27FC236}">
                <a16:creationId xmlns:a16="http://schemas.microsoft.com/office/drawing/2014/main" id="{44268D81-1380-78EB-8BB4-EAA73FD8A7CA}"/>
              </a:ext>
            </a:extLst>
          </p:cNvPr>
          <p:cNvSpPr txBox="1"/>
          <p:nvPr/>
        </p:nvSpPr>
        <p:spPr>
          <a:xfrm>
            <a:off x="3429878" y="214725"/>
            <a:ext cx="5613270" cy="369332"/>
          </a:xfrm>
          <a:prstGeom prst="rect">
            <a:avLst/>
          </a:prstGeom>
          <a:noFill/>
        </p:spPr>
        <p:txBody>
          <a:bodyPr wrap="square" rtlCol="0">
            <a:spAutoFit/>
          </a:bodyPr>
          <a:lstStyle/>
          <a:p>
            <a:r>
              <a:rPr lang="es-MX" b="1" dirty="0"/>
              <a:t>Estrategia 1: </a:t>
            </a:r>
            <a:r>
              <a:rPr lang="es-MX" b="1" dirty="0" err="1"/>
              <a:t>Pull</a:t>
            </a:r>
            <a:r>
              <a:rPr lang="es-MX" b="1" dirty="0"/>
              <a:t> Periódico  (CRON + API)</a:t>
            </a:r>
          </a:p>
        </p:txBody>
      </p:sp>
    </p:spTree>
    <p:extLst>
      <p:ext uri="{BB962C8B-B14F-4D97-AF65-F5344CB8AC3E}">
        <p14:creationId xmlns:p14="http://schemas.microsoft.com/office/powerpoint/2010/main" val="3259233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9226-A53F-9369-38BD-7EE1A33F49B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2F39EEC-62DE-0194-653A-DDE48D3CFF56}"/>
              </a:ext>
            </a:extLst>
          </p:cNvPr>
          <p:cNvSpPr txBox="1"/>
          <p:nvPr/>
        </p:nvSpPr>
        <p:spPr>
          <a:xfrm>
            <a:off x="3429878" y="214725"/>
            <a:ext cx="5613270" cy="369332"/>
          </a:xfrm>
          <a:prstGeom prst="rect">
            <a:avLst/>
          </a:prstGeom>
          <a:noFill/>
        </p:spPr>
        <p:txBody>
          <a:bodyPr wrap="square" rtlCol="0">
            <a:spAutoFit/>
          </a:bodyPr>
          <a:lstStyle/>
          <a:p>
            <a:r>
              <a:rPr lang="es-MX" b="1" dirty="0"/>
              <a:t>Estrategia 2: </a:t>
            </a:r>
            <a:r>
              <a:rPr lang="es-MX" b="1" dirty="0" err="1"/>
              <a:t>Pull</a:t>
            </a:r>
            <a:r>
              <a:rPr lang="es-MX" b="1" dirty="0"/>
              <a:t> </a:t>
            </a:r>
            <a:r>
              <a:rPr lang="es-MX" b="1" dirty="0" err="1"/>
              <a:t>Event-Driven</a:t>
            </a:r>
            <a:r>
              <a:rPr lang="es-MX" b="1" dirty="0"/>
              <a:t>  (</a:t>
            </a:r>
            <a:r>
              <a:rPr lang="es-MX" b="1" dirty="0" err="1"/>
              <a:t>Queu</a:t>
            </a:r>
            <a:r>
              <a:rPr lang="es-MX" b="1" dirty="0"/>
              <a:t> / </a:t>
            </a:r>
            <a:r>
              <a:rPr lang="es-MX" b="1" dirty="0" err="1"/>
              <a:t>PubSub</a:t>
            </a:r>
            <a:r>
              <a:rPr lang="es-MX" b="1" dirty="0"/>
              <a:t>)</a:t>
            </a:r>
          </a:p>
        </p:txBody>
      </p:sp>
      <p:pic>
        <p:nvPicPr>
          <p:cNvPr id="3" name="Imagen 2">
            <a:extLst>
              <a:ext uri="{FF2B5EF4-FFF2-40B4-BE49-F238E27FC236}">
                <a16:creationId xmlns:a16="http://schemas.microsoft.com/office/drawing/2014/main" id="{A1EB8283-51BC-88BF-43FF-B27FEAE8733A}"/>
              </a:ext>
            </a:extLst>
          </p:cNvPr>
          <p:cNvPicPr>
            <a:picLocks noChangeAspect="1"/>
          </p:cNvPicPr>
          <p:nvPr/>
        </p:nvPicPr>
        <p:blipFill>
          <a:blip r:embed="rId2"/>
          <a:stretch>
            <a:fillRect/>
          </a:stretch>
        </p:blipFill>
        <p:spPr>
          <a:xfrm>
            <a:off x="1439636" y="895906"/>
            <a:ext cx="9694202" cy="5809694"/>
          </a:xfrm>
          <a:prstGeom prst="rect">
            <a:avLst/>
          </a:prstGeom>
        </p:spPr>
      </p:pic>
    </p:spTree>
    <p:extLst>
      <p:ext uri="{BB962C8B-B14F-4D97-AF65-F5344CB8AC3E}">
        <p14:creationId xmlns:p14="http://schemas.microsoft.com/office/powerpoint/2010/main" val="686928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F11E2-40A8-E9BB-D78A-E6C245C9F1EF}"/>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F336A54E-58A2-89BE-3B8F-355803FAD38B}"/>
              </a:ext>
            </a:extLst>
          </p:cNvPr>
          <p:cNvSpPr txBox="1"/>
          <p:nvPr/>
        </p:nvSpPr>
        <p:spPr>
          <a:xfrm>
            <a:off x="3478742" y="174383"/>
            <a:ext cx="5613270" cy="369332"/>
          </a:xfrm>
          <a:prstGeom prst="rect">
            <a:avLst/>
          </a:prstGeom>
          <a:noFill/>
        </p:spPr>
        <p:txBody>
          <a:bodyPr wrap="square" rtlCol="0">
            <a:spAutoFit/>
          </a:bodyPr>
          <a:lstStyle/>
          <a:p>
            <a:r>
              <a:rPr lang="es-MX" b="1" dirty="0"/>
              <a:t>Estrategia 3: </a:t>
            </a:r>
            <a:r>
              <a:rPr lang="es-MX" b="1" dirty="0" err="1"/>
              <a:t>Push</a:t>
            </a:r>
            <a:r>
              <a:rPr lang="es-MX" b="1" dirty="0"/>
              <a:t> por </a:t>
            </a:r>
            <a:r>
              <a:rPr lang="es-MX" b="1" dirty="0" err="1"/>
              <a:t>Webhooks</a:t>
            </a:r>
            <a:r>
              <a:rPr lang="es-MX" b="1" dirty="0"/>
              <a:t> (</a:t>
            </a:r>
            <a:r>
              <a:rPr lang="es-MX" b="1" dirty="0" err="1"/>
              <a:t>Batch</a:t>
            </a:r>
            <a:r>
              <a:rPr lang="es-MX" b="1" dirty="0"/>
              <a:t> Fan-</a:t>
            </a:r>
            <a:r>
              <a:rPr lang="es-MX" b="1" dirty="0" err="1"/>
              <a:t>out</a:t>
            </a:r>
            <a:r>
              <a:rPr lang="es-MX" b="1" dirty="0"/>
              <a:t>)</a:t>
            </a:r>
          </a:p>
        </p:txBody>
      </p:sp>
      <p:pic>
        <p:nvPicPr>
          <p:cNvPr id="4" name="Imagen 3">
            <a:extLst>
              <a:ext uri="{FF2B5EF4-FFF2-40B4-BE49-F238E27FC236}">
                <a16:creationId xmlns:a16="http://schemas.microsoft.com/office/drawing/2014/main" id="{BE598391-E577-C436-939E-3EAB3AA6B76A}"/>
              </a:ext>
            </a:extLst>
          </p:cNvPr>
          <p:cNvPicPr>
            <a:picLocks noChangeAspect="1"/>
          </p:cNvPicPr>
          <p:nvPr/>
        </p:nvPicPr>
        <p:blipFill>
          <a:blip r:embed="rId2"/>
          <a:stretch>
            <a:fillRect/>
          </a:stretch>
        </p:blipFill>
        <p:spPr>
          <a:xfrm>
            <a:off x="1250575" y="1121653"/>
            <a:ext cx="10174941" cy="5353161"/>
          </a:xfrm>
          <a:prstGeom prst="rect">
            <a:avLst/>
          </a:prstGeom>
        </p:spPr>
      </p:pic>
    </p:spTree>
    <p:extLst>
      <p:ext uri="{BB962C8B-B14F-4D97-AF65-F5344CB8AC3E}">
        <p14:creationId xmlns:p14="http://schemas.microsoft.com/office/powerpoint/2010/main" val="1238696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125924B-F46E-0705-846F-0D5C4BE01134}"/>
              </a:ext>
            </a:extLst>
          </p:cNvPr>
          <p:cNvSpPr txBox="1"/>
          <p:nvPr/>
        </p:nvSpPr>
        <p:spPr>
          <a:xfrm>
            <a:off x="3209801" y="342470"/>
            <a:ext cx="5613270" cy="369332"/>
          </a:xfrm>
          <a:prstGeom prst="rect">
            <a:avLst/>
          </a:prstGeom>
          <a:noFill/>
        </p:spPr>
        <p:txBody>
          <a:bodyPr wrap="square" rtlCol="0">
            <a:spAutoFit/>
          </a:bodyPr>
          <a:lstStyle/>
          <a:p>
            <a:r>
              <a:rPr lang="es-MX" b="1" dirty="0"/>
              <a:t>3.1 </a:t>
            </a:r>
            <a:r>
              <a:rPr lang="es-MX" b="1" dirty="0" err="1"/>
              <a:t>Batch</a:t>
            </a:r>
            <a:r>
              <a:rPr lang="es-MX" b="1" dirty="0"/>
              <a:t> de Sincronización en </a:t>
            </a:r>
            <a:r>
              <a:rPr lang="es-MX" b="1" dirty="0" err="1"/>
              <a:t>Backend</a:t>
            </a:r>
            <a:endParaRPr lang="es-MX" b="1" dirty="0"/>
          </a:p>
        </p:txBody>
      </p:sp>
      <p:pic>
        <p:nvPicPr>
          <p:cNvPr id="6" name="Imagen 5">
            <a:extLst>
              <a:ext uri="{FF2B5EF4-FFF2-40B4-BE49-F238E27FC236}">
                <a16:creationId xmlns:a16="http://schemas.microsoft.com/office/drawing/2014/main" id="{CD62957D-4CA1-13E7-1769-DFCD1BC2D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39" y="711802"/>
            <a:ext cx="8111229" cy="5773881"/>
          </a:xfrm>
          <a:prstGeom prst="rect">
            <a:avLst/>
          </a:prstGeom>
        </p:spPr>
      </p:pic>
    </p:spTree>
    <p:extLst>
      <p:ext uri="{BB962C8B-B14F-4D97-AF65-F5344CB8AC3E}">
        <p14:creationId xmlns:p14="http://schemas.microsoft.com/office/powerpoint/2010/main" val="864735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0F22C53-DF22-7809-3994-87EA1903DDD5}"/>
              </a:ext>
            </a:extLst>
          </p:cNvPr>
          <p:cNvSpPr txBox="1"/>
          <p:nvPr/>
        </p:nvSpPr>
        <p:spPr>
          <a:xfrm>
            <a:off x="3209801" y="342470"/>
            <a:ext cx="5613270" cy="369332"/>
          </a:xfrm>
          <a:prstGeom prst="rect">
            <a:avLst/>
          </a:prstGeom>
          <a:noFill/>
        </p:spPr>
        <p:txBody>
          <a:bodyPr wrap="square" rtlCol="0">
            <a:spAutoFit/>
          </a:bodyPr>
          <a:lstStyle/>
          <a:p>
            <a:r>
              <a:rPr lang="es-MX" b="1" dirty="0"/>
              <a:t>3.2 </a:t>
            </a:r>
            <a:r>
              <a:rPr lang="es-MX" b="1" dirty="0" err="1"/>
              <a:t>Webhook</a:t>
            </a:r>
            <a:r>
              <a:rPr lang="es-MX" b="1" dirty="0"/>
              <a:t> que espera y recibe datos en Clientes</a:t>
            </a:r>
          </a:p>
        </p:txBody>
      </p:sp>
      <p:sp>
        <p:nvSpPr>
          <p:cNvPr id="7" name="CuadroTexto 6">
            <a:extLst>
              <a:ext uri="{FF2B5EF4-FFF2-40B4-BE49-F238E27FC236}">
                <a16:creationId xmlns:a16="http://schemas.microsoft.com/office/drawing/2014/main" id="{2EED0486-917B-8497-6232-076D0C94AE73}"/>
              </a:ext>
            </a:extLst>
          </p:cNvPr>
          <p:cNvSpPr txBox="1"/>
          <p:nvPr/>
        </p:nvSpPr>
        <p:spPr>
          <a:xfrm>
            <a:off x="988359" y="1324535"/>
            <a:ext cx="9950823" cy="4770537"/>
          </a:xfrm>
          <a:prstGeom prst="rect">
            <a:avLst/>
          </a:prstGeom>
          <a:noFill/>
        </p:spPr>
        <p:txBody>
          <a:bodyPr wrap="square" rtlCol="0">
            <a:spAutoFit/>
          </a:bodyPr>
          <a:lstStyle/>
          <a:p>
            <a:r>
              <a:rPr lang="es-MX" sz="1600" dirty="0"/>
              <a:t>1.- </a:t>
            </a:r>
            <a:r>
              <a:rPr lang="es-MX" sz="1600" dirty="0" err="1"/>
              <a:t>Webhook</a:t>
            </a:r>
            <a:r>
              <a:rPr lang="es-MX" sz="1600" dirty="0"/>
              <a:t> escucha en dominio/</a:t>
            </a:r>
            <a:r>
              <a:rPr lang="es-MX" sz="1600" dirty="0" err="1"/>
              <a:t>webhook</a:t>
            </a:r>
            <a:r>
              <a:rPr lang="es-MX" sz="1600" dirty="0"/>
              <a:t>/</a:t>
            </a:r>
            <a:r>
              <a:rPr lang="es-MX" sz="1600" dirty="0" err="1"/>
              <a:t>actualizacion</a:t>
            </a:r>
            <a:r>
              <a:rPr lang="es-MX" sz="1600" dirty="0"/>
              <a:t>-proceso n (espera </a:t>
            </a:r>
            <a:r>
              <a:rPr lang="es-MX" sz="1600" dirty="0" err="1"/>
              <a:t>payload</a:t>
            </a:r>
            <a:r>
              <a:rPr lang="es-MX" sz="1600" dirty="0"/>
              <a:t> </a:t>
            </a:r>
            <a:r>
              <a:rPr lang="es-MX" sz="1600" dirty="0" err="1"/>
              <a:t>json</a:t>
            </a:r>
            <a:r>
              <a:rPr lang="es-MX" sz="1600" dirty="0"/>
              <a:t>)</a:t>
            </a:r>
          </a:p>
          <a:p>
            <a:r>
              <a:rPr lang="es-MX" sz="1600" dirty="0"/>
              <a:t>2.- Valida el </a:t>
            </a:r>
            <a:r>
              <a:rPr lang="es-MX" sz="1600" dirty="0" err="1"/>
              <a:t>API_Key</a:t>
            </a:r>
            <a:r>
              <a:rPr lang="es-MX" sz="1600" dirty="0"/>
              <a:t> o JWT Token del </a:t>
            </a:r>
            <a:r>
              <a:rPr lang="es-MX" sz="1600" dirty="0" err="1"/>
              <a:t>backend</a:t>
            </a:r>
            <a:r>
              <a:rPr lang="es-MX" sz="1600" dirty="0"/>
              <a:t> que se conecta. </a:t>
            </a:r>
          </a:p>
          <a:p>
            <a:r>
              <a:rPr lang="es-MX" sz="1600" dirty="0"/>
              <a:t>3.-Recibe  y procesa el </a:t>
            </a:r>
            <a:r>
              <a:rPr lang="es-MX" sz="1600" dirty="0" err="1"/>
              <a:t>payload</a:t>
            </a:r>
            <a:r>
              <a:rPr lang="es-MX" sz="1600" dirty="0"/>
              <a:t> genérico de cualquier proceso (cabecera y detalle con </a:t>
            </a:r>
            <a:r>
              <a:rPr lang="es-MX" sz="1600" dirty="0" err="1"/>
              <a:t>json</a:t>
            </a:r>
            <a:r>
              <a:rPr lang="es-MX" sz="1600" dirty="0"/>
              <a:t> completo del catalogo)</a:t>
            </a:r>
          </a:p>
          <a:p>
            <a:r>
              <a:rPr lang="es-MX" sz="1600" dirty="0"/>
              <a:t>Ejemplo de procesos: </a:t>
            </a:r>
            <a:r>
              <a:rPr lang="es-MX" sz="1600" dirty="0" err="1"/>
              <a:t>productList</a:t>
            </a:r>
            <a:r>
              <a:rPr lang="es-MX" sz="1600" dirty="0"/>
              <a:t>,  </a:t>
            </a:r>
            <a:r>
              <a:rPr lang="es-MX" sz="1600" dirty="0" err="1"/>
              <a:t>campaignList</a:t>
            </a:r>
            <a:endParaRPr lang="es-MX" sz="1600" dirty="0"/>
          </a:p>
          <a:p>
            <a:r>
              <a:rPr lang="es-MX" sz="1600" dirty="0"/>
              <a:t>4A.- Busca el proceso que llega, y si la implementación existe, instancia la clase que implementa el procesamiento de </a:t>
            </a:r>
            <a:r>
              <a:rPr lang="es-MX" sz="1600" dirty="0" err="1"/>
              <a:t>sincronizació</a:t>
            </a:r>
            <a:r>
              <a:rPr lang="es-MX" sz="1600" dirty="0"/>
              <a:t> que corresponde a ese proceso.</a:t>
            </a:r>
          </a:p>
          <a:p>
            <a:r>
              <a:rPr lang="es-MX" sz="1600" dirty="0"/>
              <a:t>4B.- En caso de que no exista la implementación del proceso que se recibe, debe terminar  y marcar un mensaje de respuesta de error en el </a:t>
            </a:r>
            <a:r>
              <a:rPr lang="es-MX" sz="1600" dirty="0" err="1"/>
              <a:t>Webservice</a:t>
            </a:r>
            <a:r>
              <a:rPr lang="es-MX" sz="1600" dirty="0"/>
              <a:t> indicando que no tiene implementación para ese proceso.</a:t>
            </a:r>
          </a:p>
          <a:p>
            <a:r>
              <a:rPr lang="es-MX" sz="1600" dirty="0"/>
              <a:t>5.- Compara la versión (</a:t>
            </a:r>
            <a:r>
              <a:rPr lang="es-MX" sz="1600" dirty="0" err="1"/>
              <a:t>IdCarga</a:t>
            </a:r>
            <a:r>
              <a:rPr lang="es-MX" sz="1600" dirty="0"/>
              <a:t>,  y </a:t>
            </a:r>
            <a:r>
              <a:rPr lang="es-MX" sz="1600" dirty="0" err="1"/>
              <a:t>fechaCarga</a:t>
            </a:r>
            <a:r>
              <a:rPr lang="es-MX" sz="1600" dirty="0"/>
              <a:t>) que recibe con los datos de la última versión disponible localmente, para determinar si debe sincronizar los datos que llegan en caso de ser versión más nueva.</a:t>
            </a:r>
          </a:p>
          <a:p>
            <a:r>
              <a:rPr lang="es-MX" sz="1600" dirty="0"/>
              <a:t>6.- Ejecuta la sincronización UPSERT (Inserciones y </a:t>
            </a:r>
            <a:r>
              <a:rPr lang="es-MX" sz="1600" dirty="0" err="1"/>
              <a:t>updates</a:t>
            </a:r>
            <a:r>
              <a:rPr lang="es-MX" sz="1600" dirty="0"/>
              <a:t>) necesarios para procesar el </a:t>
            </a:r>
            <a:r>
              <a:rPr lang="es-MX" sz="1600" dirty="0" err="1"/>
              <a:t>json</a:t>
            </a:r>
            <a:r>
              <a:rPr lang="es-MX" sz="1600" dirty="0"/>
              <a:t> que se recibe con los registros en la base de datos local, cada DMS debe considerar mantener de manera correcta su integridad referencial en caso de que sus tablas tengan llaves PK y FK.</a:t>
            </a:r>
          </a:p>
          <a:p>
            <a:r>
              <a:rPr lang="es-MX" sz="1600" dirty="0"/>
              <a:t>7.- Actualiza de manera local en una tabla propia, los datos de control  de la versión del proceso sincronizado, para mantener registro de proceso, </a:t>
            </a:r>
            <a:r>
              <a:rPr lang="es-MX" sz="1600" dirty="0" err="1"/>
              <a:t>idCarga</a:t>
            </a:r>
            <a:r>
              <a:rPr lang="es-MX" sz="1600" dirty="0"/>
              <a:t>, </a:t>
            </a:r>
            <a:r>
              <a:rPr lang="es-MX" sz="1600" dirty="0" err="1"/>
              <a:t>fechaCarga</a:t>
            </a:r>
            <a:r>
              <a:rPr lang="es-MX" sz="1600" dirty="0"/>
              <a:t>, </a:t>
            </a:r>
            <a:r>
              <a:rPr lang="es-MX" sz="1600" dirty="0" err="1"/>
              <a:t>registrosRecibidos</a:t>
            </a:r>
            <a:r>
              <a:rPr lang="es-MX" sz="1600" dirty="0"/>
              <a:t>, que permitan llevar historial local de los cambios,  y genera un token de confirmación </a:t>
            </a:r>
            <a:r>
              <a:rPr lang="es-MX" sz="1600" dirty="0" err="1"/>
              <a:t>ack</a:t>
            </a:r>
            <a:r>
              <a:rPr lang="es-MX" sz="1600" dirty="0"/>
              <a:t>(</a:t>
            </a:r>
            <a:r>
              <a:rPr lang="es-MX" sz="1600" dirty="0" err="1"/>
              <a:t>acknowledgment</a:t>
            </a:r>
            <a:r>
              <a:rPr lang="es-MX" sz="1600" dirty="0"/>
              <a:t>)</a:t>
            </a:r>
          </a:p>
          <a:p>
            <a:r>
              <a:rPr lang="es-MX" sz="1600" dirty="0"/>
              <a:t>8.- En caso de que todo se procese correctamente, generar response del </a:t>
            </a:r>
            <a:r>
              <a:rPr lang="es-MX" sz="1600" dirty="0" err="1"/>
              <a:t>webHook</a:t>
            </a:r>
            <a:r>
              <a:rPr lang="es-MX" sz="1600" dirty="0"/>
              <a:t> notificando al consumidor(back-</a:t>
            </a:r>
            <a:r>
              <a:rPr lang="es-MX" sz="1600" dirty="0" err="1"/>
              <a:t>end</a:t>
            </a:r>
            <a:r>
              <a:rPr lang="es-MX" sz="1600" dirty="0"/>
              <a:t>) que la sincronización fue exitosa, incluyendo el token </a:t>
            </a:r>
            <a:r>
              <a:rPr lang="es-MX" sz="1600" dirty="0" err="1"/>
              <a:t>ack</a:t>
            </a:r>
            <a:r>
              <a:rPr lang="es-MX" sz="1600" dirty="0"/>
              <a:t>.</a:t>
            </a:r>
          </a:p>
        </p:txBody>
      </p:sp>
    </p:spTree>
    <p:extLst>
      <p:ext uri="{BB962C8B-B14F-4D97-AF65-F5344CB8AC3E}">
        <p14:creationId xmlns:p14="http://schemas.microsoft.com/office/powerpoint/2010/main" val="268017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C312-9757-0D2D-EB5C-1B0E43124E2D}"/>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414EDFE7-BB56-F13E-C4B0-DC5CA398FAE8}"/>
              </a:ext>
            </a:extLst>
          </p:cNvPr>
          <p:cNvSpPr txBox="1"/>
          <p:nvPr/>
        </p:nvSpPr>
        <p:spPr>
          <a:xfrm>
            <a:off x="3209801" y="342470"/>
            <a:ext cx="5613270" cy="369332"/>
          </a:xfrm>
          <a:prstGeom prst="rect">
            <a:avLst/>
          </a:prstGeom>
          <a:noFill/>
        </p:spPr>
        <p:txBody>
          <a:bodyPr wrap="square" rtlCol="0">
            <a:spAutoFit/>
          </a:bodyPr>
          <a:lstStyle/>
          <a:p>
            <a:r>
              <a:rPr lang="es-MX" b="1" dirty="0"/>
              <a:t>3.2 </a:t>
            </a:r>
            <a:r>
              <a:rPr lang="es-MX" b="1" dirty="0" err="1"/>
              <a:t>Webhook</a:t>
            </a:r>
            <a:r>
              <a:rPr lang="es-MX" b="1" dirty="0"/>
              <a:t> que espera y recibe datos en Clientes</a:t>
            </a:r>
          </a:p>
        </p:txBody>
      </p:sp>
      <p:pic>
        <p:nvPicPr>
          <p:cNvPr id="21" name="Imagen 20">
            <a:extLst>
              <a:ext uri="{FF2B5EF4-FFF2-40B4-BE49-F238E27FC236}">
                <a16:creationId xmlns:a16="http://schemas.microsoft.com/office/drawing/2014/main" id="{3BFCE1A5-3396-7B36-A6C6-86F5E7E13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703" y="711802"/>
            <a:ext cx="5893205" cy="5959503"/>
          </a:xfrm>
          <a:prstGeom prst="rect">
            <a:avLst/>
          </a:prstGeom>
        </p:spPr>
      </p:pic>
    </p:spTree>
    <p:extLst>
      <p:ext uri="{BB962C8B-B14F-4D97-AF65-F5344CB8AC3E}">
        <p14:creationId xmlns:p14="http://schemas.microsoft.com/office/powerpoint/2010/main" val="361928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796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F3660-CC94-65C6-B265-AD0109CDF64D}"/>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AD65CDF1-852B-3D75-DD65-9A2B7AE9FF1D}"/>
              </a:ext>
            </a:extLst>
          </p:cNvPr>
          <p:cNvSpPr txBox="1"/>
          <p:nvPr/>
        </p:nvSpPr>
        <p:spPr>
          <a:xfrm>
            <a:off x="3478742" y="174383"/>
            <a:ext cx="5613270" cy="369332"/>
          </a:xfrm>
          <a:prstGeom prst="rect">
            <a:avLst/>
          </a:prstGeom>
          <a:noFill/>
        </p:spPr>
        <p:txBody>
          <a:bodyPr wrap="square" rtlCol="0">
            <a:spAutoFit/>
          </a:bodyPr>
          <a:lstStyle/>
          <a:p>
            <a:r>
              <a:rPr lang="es-MX" b="1" dirty="0"/>
              <a:t>Estrategia 4: Híbrido (</a:t>
            </a:r>
            <a:r>
              <a:rPr lang="es-MX" b="1" dirty="0" err="1"/>
              <a:t>Event</a:t>
            </a:r>
            <a:r>
              <a:rPr lang="es-MX" b="1" dirty="0"/>
              <a:t>  + </a:t>
            </a:r>
            <a:r>
              <a:rPr lang="es-MX" b="1" dirty="0" err="1"/>
              <a:t>Pull</a:t>
            </a:r>
            <a:r>
              <a:rPr lang="es-MX" b="1" dirty="0"/>
              <a:t>) Recomendado</a:t>
            </a:r>
          </a:p>
        </p:txBody>
      </p:sp>
      <p:pic>
        <p:nvPicPr>
          <p:cNvPr id="3" name="Imagen 2">
            <a:extLst>
              <a:ext uri="{FF2B5EF4-FFF2-40B4-BE49-F238E27FC236}">
                <a16:creationId xmlns:a16="http://schemas.microsoft.com/office/drawing/2014/main" id="{94192E8C-9FB0-24A0-07A7-F6FF657B80C1}"/>
              </a:ext>
            </a:extLst>
          </p:cNvPr>
          <p:cNvPicPr>
            <a:picLocks noChangeAspect="1"/>
          </p:cNvPicPr>
          <p:nvPr/>
        </p:nvPicPr>
        <p:blipFill>
          <a:blip r:embed="rId2"/>
          <a:stretch>
            <a:fillRect/>
          </a:stretch>
        </p:blipFill>
        <p:spPr>
          <a:xfrm>
            <a:off x="1828800" y="622980"/>
            <a:ext cx="8032584" cy="6187955"/>
          </a:xfrm>
          <a:prstGeom prst="rect">
            <a:avLst/>
          </a:prstGeom>
        </p:spPr>
      </p:pic>
    </p:spTree>
    <p:extLst>
      <p:ext uri="{BB962C8B-B14F-4D97-AF65-F5344CB8AC3E}">
        <p14:creationId xmlns:p14="http://schemas.microsoft.com/office/powerpoint/2010/main" val="3440721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62F7D-88DB-EA64-3399-5887EE74664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CAB2D30D-18CC-E7FF-0ECE-3F3475751AE0}"/>
              </a:ext>
            </a:extLst>
          </p:cNvPr>
          <p:cNvSpPr txBox="1"/>
          <p:nvPr/>
        </p:nvSpPr>
        <p:spPr>
          <a:xfrm>
            <a:off x="3112995" y="174383"/>
            <a:ext cx="7530352" cy="923330"/>
          </a:xfrm>
          <a:prstGeom prst="rect">
            <a:avLst/>
          </a:prstGeom>
          <a:noFill/>
        </p:spPr>
        <p:txBody>
          <a:bodyPr wrap="square" rtlCol="0">
            <a:spAutoFit/>
          </a:bodyPr>
          <a:lstStyle/>
          <a:p>
            <a:r>
              <a:rPr lang="es-MX" b="1" dirty="0"/>
              <a:t>Estrategia 5: Data </a:t>
            </a:r>
            <a:r>
              <a:rPr lang="es-MX" b="1" dirty="0" err="1"/>
              <a:t>Replication</a:t>
            </a:r>
            <a:r>
              <a:rPr lang="es-MX" b="1" dirty="0"/>
              <a:t> (CDC) “Solución avanzada de mayor complejidad, se recomienda para datos atómicos a nivel </a:t>
            </a:r>
            <a:r>
              <a:rPr lang="es-MX" b="1" dirty="0" err="1"/>
              <a:t>row</a:t>
            </a:r>
            <a:r>
              <a:rPr lang="es-MX" b="1" dirty="0"/>
              <a:t>,  en tiempo casi real”</a:t>
            </a:r>
          </a:p>
        </p:txBody>
      </p:sp>
      <p:pic>
        <p:nvPicPr>
          <p:cNvPr id="7" name="Imagen 6">
            <a:extLst>
              <a:ext uri="{FF2B5EF4-FFF2-40B4-BE49-F238E27FC236}">
                <a16:creationId xmlns:a16="http://schemas.microsoft.com/office/drawing/2014/main" id="{0EEA984D-0FFD-FA26-D7DE-DA4138DE8B5F}"/>
              </a:ext>
            </a:extLst>
          </p:cNvPr>
          <p:cNvPicPr>
            <a:picLocks noChangeAspect="1"/>
          </p:cNvPicPr>
          <p:nvPr/>
        </p:nvPicPr>
        <p:blipFill>
          <a:blip r:embed="rId2"/>
          <a:stretch>
            <a:fillRect/>
          </a:stretch>
        </p:blipFill>
        <p:spPr>
          <a:xfrm>
            <a:off x="454280" y="1667436"/>
            <a:ext cx="11132601" cy="4324634"/>
          </a:xfrm>
          <a:prstGeom prst="rect">
            <a:avLst/>
          </a:prstGeom>
        </p:spPr>
      </p:pic>
    </p:spTree>
    <p:extLst>
      <p:ext uri="{BB962C8B-B14F-4D97-AF65-F5344CB8AC3E}">
        <p14:creationId xmlns:p14="http://schemas.microsoft.com/office/powerpoint/2010/main" val="2208677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6EE94E8-B950-FE45-D7A5-1BD8C2EA5478}"/>
              </a:ext>
            </a:extLst>
          </p:cNvPr>
          <p:cNvSpPr/>
          <p:nvPr/>
        </p:nvSpPr>
        <p:spPr>
          <a:xfrm>
            <a:off x="2908300" y="2667000"/>
            <a:ext cx="173355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Central</a:t>
            </a:r>
          </a:p>
        </p:txBody>
      </p:sp>
      <p:sp>
        <p:nvSpPr>
          <p:cNvPr id="5" name="Rectángulo 4">
            <a:extLst>
              <a:ext uri="{FF2B5EF4-FFF2-40B4-BE49-F238E27FC236}">
                <a16:creationId xmlns:a16="http://schemas.microsoft.com/office/drawing/2014/main" id="{9968231E-0BB5-CB43-A4A9-D7E556B0E2B6}"/>
              </a:ext>
            </a:extLst>
          </p:cNvPr>
          <p:cNvSpPr/>
          <p:nvPr/>
        </p:nvSpPr>
        <p:spPr>
          <a:xfrm>
            <a:off x="6188077" y="1339850"/>
            <a:ext cx="173355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Servidor Cliente 1</a:t>
            </a:r>
          </a:p>
        </p:txBody>
      </p:sp>
      <p:sp>
        <p:nvSpPr>
          <p:cNvPr id="6" name="Rectángulo 5">
            <a:extLst>
              <a:ext uri="{FF2B5EF4-FFF2-40B4-BE49-F238E27FC236}">
                <a16:creationId xmlns:a16="http://schemas.microsoft.com/office/drawing/2014/main" id="{01306B3E-680F-5EE2-E4D5-75860CFD48BF}"/>
              </a:ext>
            </a:extLst>
          </p:cNvPr>
          <p:cNvSpPr/>
          <p:nvPr/>
        </p:nvSpPr>
        <p:spPr>
          <a:xfrm>
            <a:off x="6245227" y="2619375"/>
            <a:ext cx="173355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Servidor Cliente 2</a:t>
            </a:r>
          </a:p>
        </p:txBody>
      </p:sp>
      <p:sp>
        <p:nvSpPr>
          <p:cNvPr id="7" name="Rectángulo 6">
            <a:extLst>
              <a:ext uri="{FF2B5EF4-FFF2-40B4-BE49-F238E27FC236}">
                <a16:creationId xmlns:a16="http://schemas.microsoft.com/office/drawing/2014/main" id="{5FA9AC75-6CB6-8CE9-8F5F-59AF6A491976}"/>
              </a:ext>
            </a:extLst>
          </p:cNvPr>
          <p:cNvSpPr/>
          <p:nvPr/>
        </p:nvSpPr>
        <p:spPr>
          <a:xfrm>
            <a:off x="6302377" y="4373562"/>
            <a:ext cx="173355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Servidor Cliente N</a:t>
            </a:r>
          </a:p>
        </p:txBody>
      </p:sp>
      <p:sp>
        <p:nvSpPr>
          <p:cNvPr id="8" name="Rectángulo 7">
            <a:extLst>
              <a:ext uri="{FF2B5EF4-FFF2-40B4-BE49-F238E27FC236}">
                <a16:creationId xmlns:a16="http://schemas.microsoft.com/office/drawing/2014/main" id="{E5F47F40-DDA9-5D54-BDF7-8707DCD4C778}"/>
              </a:ext>
            </a:extLst>
          </p:cNvPr>
          <p:cNvSpPr/>
          <p:nvPr/>
        </p:nvSpPr>
        <p:spPr>
          <a:xfrm>
            <a:off x="8321677" y="1339850"/>
            <a:ext cx="1558923" cy="781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Bac 001</a:t>
            </a:r>
          </a:p>
          <a:p>
            <a:pPr algn="ctr"/>
            <a:r>
              <a:rPr lang="es-MX" dirty="0"/>
              <a:t>Bac  002</a:t>
            </a:r>
          </a:p>
          <a:p>
            <a:pPr algn="ctr"/>
            <a:r>
              <a:rPr lang="es-MX" dirty="0"/>
              <a:t>Bac 003</a:t>
            </a:r>
          </a:p>
        </p:txBody>
      </p:sp>
      <p:sp>
        <p:nvSpPr>
          <p:cNvPr id="9" name="Rectángulo 8">
            <a:extLst>
              <a:ext uri="{FF2B5EF4-FFF2-40B4-BE49-F238E27FC236}">
                <a16:creationId xmlns:a16="http://schemas.microsoft.com/office/drawing/2014/main" id="{F6A4388B-199F-24A3-AF17-1D9FDBFE2887}"/>
              </a:ext>
            </a:extLst>
          </p:cNvPr>
          <p:cNvSpPr/>
          <p:nvPr/>
        </p:nvSpPr>
        <p:spPr>
          <a:xfrm>
            <a:off x="8416925" y="2654340"/>
            <a:ext cx="1733550" cy="781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Bac 018</a:t>
            </a:r>
          </a:p>
          <a:p>
            <a:pPr algn="ctr"/>
            <a:r>
              <a:rPr lang="es-MX" dirty="0"/>
              <a:t>Bac  019</a:t>
            </a:r>
          </a:p>
        </p:txBody>
      </p:sp>
      <p:sp>
        <p:nvSpPr>
          <p:cNvPr id="10" name="Rectángulo 9">
            <a:extLst>
              <a:ext uri="{FF2B5EF4-FFF2-40B4-BE49-F238E27FC236}">
                <a16:creationId xmlns:a16="http://schemas.microsoft.com/office/drawing/2014/main" id="{9D219E74-4568-2432-6EEB-92B187E794FF}"/>
              </a:ext>
            </a:extLst>
          </p:cNvPr>
          <p:cNvSpPr/>
          <p:nvPr/>
        </p:nvSpPr>
        <p:spPr>
          <a:xfrm>
            <a:off x="8943977" y="4440237"/>
            <a:ext cx="1733550" cy="441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Bac 055</a:t>
            </a:r>
          </a:p>
        </p:txBody>
      </p:sp>
      <p:sp>
        <p:nvSpPr>
          <p:cNvPr id="11" name="CuadroTexto 10">
            <a:extLst>
              <a:ext uri="{FF2B5EF4-FFF2-40B4-BE49-F238E27FC236}">
                <a16:creationId xmlns:a16="http://schemas.microsoft.com/office/drawing/2014/main" id="{7275938B-0E16-4598-3A65-3C3A59D163DA}"/>
              </a:ext>
            </a:extLst>
          </p:cNvPr>
          <p:cNvSpPr txBox="1"/>
          <p:nvPr/>
        </p:nvSpPr>
        <p:spPr>
          <a:xfrm>
            <a:off x="9810752" y="1267381"/>
            <a:ext cx="1945020" cy="369332"/>
          </a:xfrm>
          <a:prstGeom prst="rect">
            <a:avLst/>
          </a:prstGeom>
          <a:noFill/>
        </p:spPr>
        <p:txBody>
          <a:bodyPr wrap="none" rtlCol="0">
            <a:spAutoFit/>
          </a:bodyPr>
          <a:lstStyle/>
          <a:p>
            <a:r>
              <a:rPr lang="es-MX" dirty="0"/>
              <a:t>Webhook-server1</a:t>
            </a:r>
          </a:p>
        </p:txBody>
      </p:sp>
      <p:sp>
        <p:nvSpPr>
          <p:cNvPr id="12" name="CuadroTexto 11">
            <a:extLst>
              <a:ext uri="{FF2B5EF4-FFF2-40B4-BE49-F238E27FC236}">
                <a16:creationId xmlns:a16="http://schemas.microsoft.com/office/drawing/2014/main" id="{16CF7573-A9AE-C503-2F5B-4DC9BFB997FD}"/>
              </a:ext>
            </a:extLst>
          </p:cNvPr>
          <p:cNvSpPr txBox="1"/>
          <p:nvPr/>
        </p:nvSpPr>
        <p:spPr>
          <a:xfrm>
            <a:off x="6245227" y="3213139"/>
            <a:ext cx="1945020" cy="369332"/>
          </a:xfrm>
          <a:prstGeom prst="rect">
            <a:avLst/>
          </a:prstGeom>
          <a:noFill/>
        </p:spPr>
        <p:txBody>
          <a:bodyPr wrap="none" rtlCol="0">
            <a:spAutoFit/>
          </a:bodyPr>
          <a:lstStyle/>
          <a:p>
            <a:r>
              <a:rPr lang="es-MX" dirty="0"/>
              <a:t>Webhook-server2</a:t>
            </a:r>
          </a:p>
        </p:txBody>
      </p:sp>
      <p:sp>
        <p:nvSpPr>
          <p:cNvPr id="13" name="CuadroTexto 12">
            <a:extLst>
              <a:ext uri="{FF2B5EF4-FFF2-40B4-BE49-F238E27FC236}">
                <a16:creationId xmlns:a16="http://schemas.microsoft.com/office/drawing/2014/main" id="{C9297BB3-AA90-1043-394E-D325F3742309}"/>
              </a:ext>
            </a:extLst>
          </p:cNvPr>
          <p:cNvSpPr txBox="1"/>
          <p:nvPr/>
        </p:nvSpPr>
        <p:spPr>
          <a:xfrm>
            <a:off x="6245227" y="4933989"/>
            <a:ext cx="1985095" cy="369332"/>
          </a:xfrm>
          <a:prstGeom prst="rect">
            <a:avLst/>
          </a:prstGeom>
          <a:noFill/>
        </p:spPr>
        <p:txBody>
          <a:bodyPr wrap="none" rtlCol="0">
            <a:spAutoFit/>
          </a:bodyPr>
          <a:lstStyle/>
          <a:p>
            <a:r>
              <a:rPr lang="es-MX" dirty="0" err="1"/>
              <a:t>Webhook-serverN</a:t>
            </a:r>
            <a:endParaRPr lang="es-MX" dirty="0"/>
          </a:p>
        </p:txBody>
      </p:sp>
      <p:sp>
        <p:nvSpPr>
          <p:cNvPr id="14" name="CuadroTexto 13">
            <a:extLst>
              <a:ext uri="{FF2B5EF4-FFF2-40B4-BE49-F238E27FC236}">
                <a16:creationId xmlns:a16="http://schemas.microsoft.com/office/drawing/2014/main" id="{AC2F7BC7-01E5-8FE0-EAE2-25E762C20268}"/>
              </a:ext>
            </a:extLst>
          </p:cNvPr>
          <p:cNvSpPr txBox="1"/>
          <p:nvPr/>
        </p:nvSpPr>
        <p:spPr>
          <a:xfrm>
            <a:off x="9845676" y="1530906"/>
            <a:ext cx="1945020" cy="369332"/>
          </a:xfrm>
          <a:prstGeom prst="rect">
            <a:avLst/>
          </a:prstGeom>
          <a:noFill/>
        </p:spPr>
        <p:txBody>
          <a:bodyPr wrap="none" rtlCol="0">
            <a:spAutoFit/>
          </a:bodyPr>
          <a:lstStyle/>
          <a:p>
            <a:r>
              <a:rPr lang="es-MX" dirty="0"/>
              <a:t>Webhook-server1</a:t>
            </a:r>
          </a:p>
        </p:txBody>
      </p:sp>
      <p:sp>
        <p:nvSpPr>
          <p:cNvPr id="15" name="CuadroTexto 14">
            <a:extLst>
              <a:ext uri="{FF2B5EF4-FFF2-40B4-BE49-F238E27FC236}">
                <a16:creationId xmlns:a16="http://schemas.microsoft.com/office/drawing/2014/main" id="{A7EAFC36-B5AB-1F6E-5761-1F680AE22F3E}"/>
              </a:ext>
            </a:extLst>
          </p:cNvPr>
          <p:cNvSpPr txBox="1"/>
          <p:nvPr/>
        </p:nvSpPr>
        <p:spPr>
          <a:xfrm>
            <a:off x="9880600" y="1824037"/>
            <a:ext cx="1945020" cy="369332"/>
          </a:xfrm>
          <a:prstGeom prst="rect">
            <a:avLst/>
          </a:prstGeom>
          <a:noFill/>
        </p:spPr>
        <p:txBody>
          <a:bodyPr wrap="none" rtlCol="0">
            <a:spAutoFit/>
          </a:bodyPr>
          <a:lstStyle/>
          <a:p>
            <a:r>
              <a:rPr lang="es-MX" dirty="0"/>
              <a:t>Webhook-server1</a:t>
            </a:r>
          </a:p>
        </p:txBody>
      </p:sp>
      <p:sp>
        <p:nvSpPr>
          <p:cNvPr id="16" name="CuadroTexto 15">
            <a:extLst>
              <a:ext uri="{FF2B5EF4-FFF2-40B4-BE49-F238E27FC236}">
                <a16:creationId xmlns:a16="http://schemas.microsoft.com/office/drawing/2014/main" id="{DAE3C563-02F3-8DA2-D604-3B4F39D3DF46}"/>
              </a:ext>
            </a:extLst>
          </p:cNvPr>
          <p:cNvSpPr txBox="1"/>
          <p:nvPr/>
        </p:nvSpPr>
        <p:spPr>
          <a:xfrm>
            <a:off x="10150475" y="2660690"/>
            <a:ext cx="1945020" cy="369332"/>
          </a:xfrm>
          <a:prstGeom prst="rect">
            <a:avLst/>
          </a:prstGeom>
          <a:noFill/>
        </p:spPr>
        <p:txBody>
          <a:bodyPr wrap="none" rtlCol="0">
            <a:spAutoFit/>
          </a:bodyPr>
          <a:lstStyle/>
          <a:p>
            <a:r>
              <a:rPr lang="es-MX" dirty="0"/>
              <a:t>Webhook-server2</a:t>
            </a:r>
          </a:p>
        </p:txBody>
      </p:sp>
      <p:sp>
        <p:nvSpPr>
          <p:cNvPr id="17" name="CuadroTexto 16">
            <a:extLst>
              <a:ext uri="{FF2B5EF4-FFF2-40B4-BE49-F238E27FC236}">
                <a16:creationId xmlns:a16="http://schemas.microsoft.com/office/drawing/2014/main" id="{28555A50-5819-F0C1-B217-62131F34FC6A}"/>
              </a:ext>
            </a:extLst>
          </p:cNvPr>
          <p:cNvSpPr txBox="1"/>
          <p:nvPr/>
        </p:nvSpPr>
        <p:spPr>
          <a:xfrm>
            <a:off x="10153652" y="3028473"/>
            <a:ext cx="1945020" cy="369332"/>
          </a:xfrm>
          <a:prstGeom prst="rect">
            <a:avLst/>
          </a:prstGeom>
          <a:noFill/>
        </p:spPr>
        <p:txBody>
          <a:bodyPr wrap="none" rtlCol="0">
            <a:spAutoFit/>
          </a:bodyPr>
          <a:lstStyle/>
          <a:p>
            <a:r>
              <a:rPr lang="es-MX" dirty="0"/>
              <a:t>Webhook-server2</a:t>
            </a:r>
          </a:p>
        </p:txBody>
      </p:sp>
    </p:spTree>
    <p:extLst>
      <p:ext uri="{BB962C8B-B14F-4D97-AF65-F5344CB8AC3E}">
        <p14:creationId xmlns:p14="http://schemas.microsoft.com/office/powerpoint/2010/main" val="79629564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10187</TotalTime>
  <Words>959</Words>
  <Application>Microsoft Office PowerPoint</Application>
  <PresentationFormat>Panorámica</PresentationFormat>
  <Paragraphs>130</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Francisco Zaragoza</dc:creator>
  <cp:lastModifiedBy>Francisco Zaragoza</cp:lastModifiedBy>
  <cp:revision>6</cp:revision>
  <dcterms:created xsi:type="dcterms:W3CDTF">2025-12-19T21:41:01Z</dcterms:created>
  <dcterms:modified xsi:type="dcterms:W3CDTF">2026-01-05T21:37:30Z</dcterms:modified>
</cp:coreProperties>
</file>